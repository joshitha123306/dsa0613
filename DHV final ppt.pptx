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6" r:id="rId2"/>
    <p:sldId id="257" r:id="rId3"/>
    <p:sldId id="262" r:id="rId4"/>
    <p:sldId id="263" r:id="rId5"/>
    <p:sldId id="264" r:id="rId6"/>
    <p:sldId id="265" r:id="rId7"/>
    <p:sldId id="258" r:id="rId8"/>
    <p:sldId id="266" r:id="rId9"/>
    <p:sldId id="259" r:id="rId10"/>
    <p:sldId id="260" r:id="rId11"/>
    <p:sldId id="261" r:id="rId12"/>
    <p:sldId id="267" r:id="rId13"/>
    <p:sldId id="268" r:id="rId14"/>
    <p:sldId id="269" r:id="rId15"/>
    <p:sldId id="270" r:id="rId16"/>
    <p:sldId id="271" r:id="rId17"/>
    <p:sldId id="275" r:id="rId18"/>
    <p:sldId id="274" r:id="rId19"/>
    <p:sldId id="272" r:id="rId20"/>
    <p:sldId id="273"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4" d="100"/>
          <a:sy n="74" d="100"/>
        </p:scale>
        <p:origin x="965"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9187A5C-98BE-4881-AC5C-A694E2E92BD6}" type="datetimeFigureOut">
              <a:rPr lang="en-IN" smtClean="0"/>
              <a:t>31-01-2026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A5E7BAE-004D-483F-AF00-F6AFA10501BC}" type="slidenum">
              <a:rPr lang="en-IN" smtClean="0"/>
              <a:t>‹#›</a:t>
            </a:fld>
            <a:endParaRPr lang="en-IN"/>
          </a:p>
        </p:txBody>
      </p:sp>
    </p:spTree>
    <p:extLst>
      <p:ext uri="{BB962C8B-B14F-4D97-AF65-F5344CB8AC3E}">
        <p14:creationId xmlns:p14="http://schemas.microsoft.com/office/powerpoint/2010/main" val="9556584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Collects and analyzes student marks and grades* Compares performance across subjects and semesters* Identifies high and low performing students* Finds strengths and weak areas in academics* Visualizes results using charts and graphs for easy understanding</a:t>
            </a:r>
            <a:endParaRPr lang="en-IN" dirty="0"/>
          </a:p>
        </p:txBody>
      </p:sp>
      <p:sp>
        <p:nvSpPr>
          <p:cNvPr id="4" name="Slide Number Placeholder 3"/>
          <p:cNvSpPr>
            <a:spLocks noGrp="1"/>
          </p:cNvSpPr>
          <p:nvPr>
            <p:ph type="sldNum" sz="quarter" idx="5"/>
          </p:nvPr>
        </p:nvSpPr>
        <p:spPr/>
        <p:txBody>
          <a:bodyPr/>
          <a:lstStyle/>
          <a:p>
            <a:fld id="{DA5E7BAE-004D-483F-AF00-F6AFA10501BC}" type="slidenum">
              <a:rPr lang="en-IN" smtClean="0"/>
              <a:t>7</a:t>
            </a:fld>
            <a:endParaRPr lang="en-IN"/>
          </a:p>
        </p:txBody>
      </p:sp>
    </p:spTree>
    <p:extLst>
      <p:ext uri="{BB962C8B-B14F-4D97-AF65-F5344CB8AC3E}">
        <p14:creationId xmlns:p14="http://schemas.microsoft.com/office/powerpoint/2010/main" val="37115530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A5E7BAE-004D-483F-AF00-F6AFA10501BC}" type="slidenum">
              <a:rPr lang="en-IN" smtClean="0"/>
              <a:t>9</a:t>
            </a:fld>
            <a:endParaRPr lang="en-IN"/>
          </a:p>
        </p:txBody>
      </p:sp>
    </p:spTree>
    <p:extLst>
      <p:ext uri="{BB962C8B-B14F-4D97-AF65-F5344CB8AC3E}">
        <p14:creationId xmlns:p14="http://schemas.microsoft.com/office/powerpoint/2010/main" val="24218488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91B93-96A8-ECB7-670F-19A71932035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0B96C23-01B3-D0B1-89BD-8DC2159A010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340E802-3D24-44B1-7BA8-13AB57099996}"/>
              </a:ext>
            </a:extLst>
          </p:cNvPr>
          <p:cNvSpPr>
            <a:spLocks noGrp="1"/>
          </p:cNvSpPr>
          <p:nvPr>
            <p:ph type="dt" sz="half" idx="10"/>
          </p:nvPr>
        </p:nvSpPr>
        <p:spPr/>
        <p:txBody>
          <a:bodyPr/>
          <a:lstStyle/>
          <a:p>
            <a:fld id="{54451499-B02C-408A-9D4E-244021945515}" type="datetimeFigureOut">
              <a:rPr lang="en-IN" smtClean="0"/>
              <a:t>31-01-2026</a:t>
            </a:fld>
            <a:endParaRPr lang="en-IN"/>
          </a:p>
        </p:txBody>
      </p:sp>
      <p:sp>
        <p:nvSpPr>
          <p:cNvPr id="5" name="Footer Placeholder 4">
            <a:extLst>
              <a:ext uri="{FF2B5EF4-FFF2-40B4-BE49-F238E27FC236}">
                <a16:creationId xmlns:a16="http://schemas.microsoft.com/office/drawing/2014/main" id="{2464C39C-E9EC-049A-8E8A-338AA7DCE02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68DB441-DA60-FAB3-3546-6A6D3D9147E1}"/>
              </a:ext>
            </a:extLst>
          </p:cNvPr>
          <p:cNvSpPr>
            <a:spLocks noGrp="1"/>
          </p:cNvSpPr>
          <p:nvPr>
            <p:ph type="sldNum" sz="quarter" idx="12"/>
          </p:nvPr>
        </p:nvSpPr>
        <p:spPr/>
        <p:txBody>
          <a:bodyPr/>
          <a:lstStyle/>
          <a:p>
            <a:fld id="{C9005803-4FCC-415E-AA53-15103E3FAA81}" type="slidenum">
              <a:rPr lang="en-IN" smtClean="0"/>
              <a:t>‹#›</a:t>
            </a:fld>
            <a:endParaRPr lang="en-IN"/>
          </a:p>
        </p:txBody>
      </p:sp>
    </p:spTree>
    <p:extLst>
      <p:ext uri="{BB962C8B-B14F-4D97-AF65-F5344CB8AC3E}">
        <p14:creationId xmlns:p14="http://schemas.microsoft.com/office/powerpoint/2010/main" val="35517194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51E690-53B0-C7E0-3CD3-F00454FA744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CD281CB-CC40-C5E7-AB9A-166CFC00F10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D66E299-BDCB-A09F-9F14-0F62D63DF83F}"/>
              </a:ext>
            </a:extLst>
          </p:cNvPr>
          <p:cNvSpPr>
            <a:spLocks noGrp="1"/>
          </p:cNvSpPr>
          <p:nvPr>
            <p:ph type="dt" sz="half" idx="10"/>
          </p:nvPr>
        </p:nvSpPr>
        <p:spPr/>
        <p:txBody>
          <a:bodyPr/>
          <a:lstStyle/>
          <a:p>
            <a:fld id="{54451499-B02C-408A-9D4E-244021945515}" type="datetimeFigureOut">
              <a:rPr lang="en-IN" smtClean="0"/>
              <a:t>31-01-2026</a:t>
            </a:fld>
            <a:endParaRPr lang="en-IN"/>
          </a:p>
        </p:txBody>
      </p:sp>
      <p:sp>
        <p:nvSpPr>
          <p:cNvPr id="5" name="Footer Placeholder 4">
            <a:extLst>
              <a:ext uri="{FF2B5EF4-FFF2-40B4-BE49-F238E27FC236}">
                <a16:creationId xmlns:a16="http://schemas.microsoft.com/office/drawing/2014/main" id="{F54A9EDE-3DD4-F38F-7A92-8F90E4910B1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26E2F9F-C962-B526-441A-ECF28D456715}"/>
              </a:ext>
            </a:extLst>
          </p:cNvPr>
          <p:cNvSpPr>
            <a:spLocks noGrp="1"/>
          </p:cNvSpPr>
          <p:nvPr>
            <p:ph type="sldNum" sz="quarter" idx="12"/>
          </p:nvPr>
        </p:nvSpPr>
        <p:spPr/>
        <p:txBody>
          <a:bodyPr/>
          <a:lstStyle/>
          <a:p>
            <a:fld id="{C9005803-4FCC-415E-AA53-15103E3FAA81}" type="slidenum">
              <a:rPr lang="en-IN" smtClean="0"/>
              <a:t>‹#›</a:t>
            </a:fld>
            <a:endParaRPr lang="en-IN"/>
          </a:p>
        </p:txBody>
      </p:sp>
    </p:spTree>
    <p:extLst>
      <p:ext uri="{BB962C8B-B14F-4D97-AF65-F5344CB8AC3E}">
        <p14:creationId xmlns:p14="http://schemas.microsoft.com/office/powerpoint/2010/main" val="1970378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FF7E1C-9905-9643-B407-EEE39032920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3AD1668-B28D-425A-2E84-900F529AD88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2B7C4E2-F8BE-DF34-D3E4-2299F303BB68}"/>
              </a:ext>
            </a:extLst>
          </p:cNvPr>
          <p:cNvSpPr>
            <a:spLocks noGrp="1"/>
          </p:cNvSpPr>
          <p:nvPr>
            <p:ph type="dt" sz="half" idx="10"/>
          </p:nvPr>
        </p:nvSpPr>
        <p:spPr/>
        <p:txBody>
          <a:bodyPr/>
          <a:lstStyle/>
          <a:p>
            <a:fld id="{54451499-B02C-408A-9D4E-244021945515}" type="datetimeFigureOut">
              <a:rPr lang="en-IN" smtClean="0"/>
              <a:t>31-01-2026</a:t>
            </a:fld>
            <a:endParaRPr lang="en-IN"/>
          </a:p>
        </p:txBody>
      </p:sp>
      <p:sp>
        <p:nvSpPr>
          <p:cNvPr id="5" name="Footer Placeholder 4">
            <a:extLst>
              <a:ext uri="{FF2B5EF4-FFF2-40B4-BE49-F238E27FC236}">
                <a16:creationId xmlns:a16="http://schemas.microsoft.com/office/drawing/2014/main" id="{9231CD33-E389-48E6-2614-1828ED85E79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2D5742F-9BFE-683A-0D05-CF21708CC1F7}"/>
              </a:ext>
            </a:extLst>
          </p:cNvPr>
          <p:cNvSpPr>
            <a:spLocks noGrp="1"/>
          </p:cNvSpPr>
          <p:nvPr>
            <p:ph type="sldNum" sz="quarter" idx="12"/>
          </p:nvPr>
        </p:nvSpPr>
        <p:spPr/>
        <p:txBody>
          <a:bodyPr/>
          <a:lstStyle/>
          <a:p>
            <a:fld id="{C9005803-4FCC-415E-AA53-15103E3FAA81}" type="slidenum">
              <a:rPr lang="en-IN" smtClean="0"/>
              <a:t>‹#›</a:t>
            </a:fld>
            <a:endParaRPr lang="en-IN"/>
          </a:p>
        </p:txBody>
      </p:sp>
    </p:spTree>
    <p:extLst>
      <p:ext uri="{BB962C8B-B14F-4D97-AF65-F5344CB8AC3E}">
        <p14:creationId xmlns:p14="http://schemas.microsoft.com/office/powerpoint/2010/main" val="42359869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C22135-EA49-1243-956D-626BD02B2D1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E6FE1D0-34F5-ED63-5696-51587A4AEB2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8816E42-5E5B-FB29-D6C7-4688541ED2E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A05FE3C-E0BC-D7AA-898D-4BB4A699122B}"/>
              </a:ext>
            </a:extLst>
          </p:cNvPr>
          <p:cNvSpPr>
            <a:spLocks noGrp="1"/>
          </p:cNvSpPr>
          <p:nvPr>
            <p:ph type="dt" sz="half" idx="10"/>
          </p:nvPr>
        </p:nvSpPr>
        <p:spPr/>
        <p:txBody>
          <a:bodyPr/>
          <a:lstStyle/>
          <a:p>
            <a:fld id="{54451499-B02C-408A-9D4E-244021945515}" type="datetimeFigureOut">
              <a:rPr lang="en-IN" smtClean="0"/>
              <a:t>31-01-2026</a:t>
            </a:fld>
            <a:endParaRPr lang="en-IN"/>
          </a:p>
        </p:txBody>
      </p:sp>
      <p:sp>
        <p:nvSpPr>
          <p:cNvPr id="6" name="Footer Placeholder 5">
            <a:extLst>
              <a:ext uri="{FF2B5EF4-FFF2-40B4-BE49-F238E27FC236}">
                <a16:creationId xmlns:a16="http://schemas.microsoft.com/office/drawing/2014/main" id="{8C2BD2A6-BD34-0875-71C5-B25A8066928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B69912C-FD5A-0A84-3295-328BCC5F5AAE}"/>
              </a:ext>
            </a:extLst>
          </p:cNvPr>
          <p:cNvSpPr>
            <a:spLocks noGrp="1"/>
          </p:cNvSpPr>
          <p:nvPr>
            <p:ph type="sldNum" sz="quarter" idx="12"/>
          </p:nvPr>
        </p:nvSpPr>
        <p:spPr/>
        <p:txBody>
          <a:bodyPr/>
          <a:lstStyle/>
          <a:p>
            <a:fld id="{C9005803-4FCC-415E-AA53-15103E3FAA81}" type="slidenum">
              <a:rPr lang="en-IN" smtClean="0"/>
              <a:t>‹#›</a:t>
            </a:fld>
            <a:endParaRPr lang="en-IN"/>
          </a:p>
        </p:txBody>
      </p:sp>
    </p:spTree>
    <p:extLst>
      <p:ext uri="{BB962C8B-B14F-4D97-AF65-F5344CB8AC3E}">
        <p14:creationId xmlns:p14="http://schemas.microsoft.com/office/powerpoint/2010/main" val="11612466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0B2EF-AC79-316D-BF51-91CA9A45B67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4B2830A-99BC-A0D6-E9EC-ACFE14E39CC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277017A-94E9-F8F9-0DD6-BB916FD25D9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4334ED7-996C-D3D8-B96C-95D9BA7983B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FC475DF-98B3-C688-F16B-0CFF0627236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D26C8FD-6453-5395-2C00-608F572BE392}"/>
              </a:ext>
            </a:extLst>
          </p:cNvPr>
          <p:cNvSpPr>
            <a:spLocks noGrp="1"/>
          </p:cNvSpPr>
          <p:nvPr>
            <p:ph type="dt" sz="half" idx="10"/>
          </p:nvPr>
        </p:nvSpPr>
        <p:spPr/>
        <p:txBody>
          <a:bodyPr/>
          <a:lstStyle/>
          <a:p>
            <a:fld id="{54451499-B02C-408A-9D4E-244021945515}" type="datetimeFigureOut">
              <a:rPr lang="en-IN" smtClean="0"/>
              <a:t>31-01-2026</a:t>
            </a:fld>
            <a:endParaRPr lang="en-IN"/>
          </a:p>
        </p:txBody>
      </p:sp>
      <p:sp>
        <p:nvSpPr>
          <p:cNvPr id="8" name="Footer Placeholder 7">
            <a:extLst>
              <a:ext uri="{FF2B5EF4-FFF2-40B4-BE49-F238E27FC236}">
                <a16:creationId xmlns:a16="http://schemas.microsoft.com/office/drawing/2014/main" id="{41B82CC1-B7A8-DEB3-5E73-EB953E99200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1D3C561-000F-0A0E-480F-A73D6298A382}"/>
              </a:ext>
            </a:extLst>
          </p:cNvPr>
          <p:cNvSpPr>
            <a:spLocks noGrp="1"/>
          </p:cNvSpPr>
          <p:nvPr>
            <p:ph type="sldNum" sz="quarter" idx="12"/>
          </p:nvPr>
        </p:nvSpPr>
        <p:spPr/>
        <p:txBody>
          <a:bodyPr/>
          <a:lstStyle/>
          <a:p>
            <a:fld id="{C9005803-4FCC-415E-AA53-15103E3FAA81}" type="slidenum">
              <a:rPr lang="en-IN" smtClean="0"/>
              <a:t>‹#›</a:t>
            </a:fld>
            <a:endParaRPr lang="en-IN"/>
          </a:p>
        </p:txBody>
      </p:sp>
    </p:spTree>
    <p:extLst>
      <p:ext uri="{BB962C8B-B14F-4D97-AF65-F5344CB8AC3E}">
        <p14:creationId xmlns:p14="http://schemas.microsoft.com/office/powerpoint/2010/main" val="11979608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A40BA6-4968-06DD-D252-223F7E00E01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6C1096C-FE63-7DD3-6A04-9B9D4B28EB13}"/>
              </a:ext>
            </a:extLst>
          </p:cNvPr>
          <p:cNvSpPr>
            <a:spLocks noGrp="1"/>
          </p:cNvSpPr>
          <p:nvPr>
            <p:ph type="dt" sz="half" idx="10"/>
          </p:nvPr>
        </p:nvSpPr>
        <p:spPr/>
        <p:txBody>
          <a:bodyPr/>
          <a:lstStyle/>
          <a:p>
            <a:fld id="{54451499-B02C-408A-9D4E-244021945515}" type="datetimeFigureOut">
              <a:rPr lang="en-IN" smtClean="0"/>
              <a:t>31-01-2026</a:t>
            </a:fld>
            <a:endParaRPr lang="en-IN"/>
          </a:p>
        </p:txBody>
      </p:sp>
      <p:sp>
        <p:nvSpPr>
          <p:cNvPr id="4" name="Footer Placeholder 3">
            <a:extLst>
              <a:ext uri="{FF2B5EF4-FFF2-40B4-BE49-F238E27FC236}">
                <a16:creationId xmlns:a16="http://schemas.microsoft.com/office/drawing/2014/main" id="{EEE29F5C-D80A-05BD-FA50-FD7B1769659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6B23011-177A-0E44-F0DA-F9BF431C43E6}"/>
              </a:ext>
            </a:extLst>
          </p:cNvPr>
          <p:cNvSpPr>
            <a:spLocks noGrp="1"/>
          </p:cNvSpPr>
          <p:nvPr>
            <p:ph type="sldNum" sz="quarter" idx="12"/>
          </p:nvPr>
        </p:nvSpPr>
        <p:spPr/>
        <p:txBody>
          <a:bodyPr/>
          <a:lstStyle/>
          <a:p>
            <a:fld id="{C9005803-4FCC-415E-AA53-15103E3FAA81}" type="slidenum">
              <a:rPr lang="en-IN" smtClean="0"/>
              <a:t>‹#›</a:t>
            </a:fld>
            <a:endParaRPr lang="en-IN"/>
          </a:p>
        </p:txBody>
      </p:sp>
    </p:spTree>
    <p:extLst>
      <p:ext uri="{BB962C8B-B14F-4D97-AF65-F5344CB8AC3E}">
        <p14:creationId xmlns:p14="http://schemas.microsoft.com/office/powerpoint/2010/main" val="26513652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B25BA7A-88BA-5C4C-BC06-7CF60A6FF0BC}"/>
              </a:ext>
            </a:extLst>
          </p:cNvPr>
          <p:cNvSpPr>
            <a:spLocks noGrp="1"/>
          </p:cNvSpPr>
          <p:nvPr>
            <p:ph type="dt" sz="half" idx="10"/>
          </p:nvPr>
        </p:nvSpPr>
        <p:spPr/>
        <p:txBody>
          <a:bodyPr/>
          <a:lstStyle/>
          <a:p>
            <a:fld id="{54451499-B02C-408A-9D4E-244021945515}" type="datetimeFigureOut">
              <a:rPr lang="en-IN" smtClean="0"/>
              <a:t>31-01-2026</a:t>
            </a:fld>
            <a:endParaRPr lang="en-IN"/>
          </a:p>
        </p:txBody>
      </p:sp>
      <p:sp>
        <p:nvSpPr>
          <p:cNvPr id="3" name="Footer Placeholder 2">
            <a:extLst>
              <a:ext uri="{FF2B5EF4-FFF2-40B4-BE49-F238E27FC236}">
                <a16:creationId xmlns:a16="http://schemas.microsoft.com/office/drawing/2014/main" id="{C68F195F-CC3C-F3D3-0025-9C42EBD4D92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1B3D132-4F14-16BB-7B10-F0FF8A460771}"/>
              </a:ext>
            </a:extLst>
          </p:cNvPr>
          <p:cNvSpPr>
            <a:spLocks noGrp="1"/>
          </p:cNvSpPr>
          <p:nvPr>
            <p:ph type="sldNum" sz="quarter" idx="12"/>
          </p:nvPr>
        </p:nvSpPr>
        <p:spPr/>
        <p:txBody>
          <a:bodyPr/>
          <a:lstStyle/>
          <a:p>
            <a:fld id="{C9005803-4FCC-415E-AA53-15103E3FAA81}" type="slidenum">
              <a:rPr lang="en-IN" smtClean="0"/>
              <a:t>‹#›</a:t>
            </a:fld>
            <a:endParaRPr lang="en-IN"/>
          </a:p>
        </p:txBody>
      </p:sp>
    </p:spTree>
    <p:extLst>
      <p:ext uri="{BB962C8B-B14F-4D97-AF65-F5344CB8AC3E}">
        <p14:creationId xmlns:p14="http://schemas.microsoft.com/office/powerpoint/2010/main" val="27401585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30F925-7F88-1087-154B-0538B93C744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870562E-B5E6-8249-3339-800069B8624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A4D84F9-C5D8-4A61-8CBD-6BDF458945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5B46554-8C4D-A42A-8595-B3F172DE503F}"/>
              </a:ext>
            </a:extLst>
          </p:cNvPr>
          <p:cNvSpPr>
            <a:spLocks noGrp="1"/>
          </p:cNvSpPr>
          <p:nvPr>
            <p:ph type="dt" sz="half" idx="10"/>
          </p:nvPr>
        </p:nvSpPr>
        <p:spPr/>
        <p:txBody>
          <a:bodyPr/>
          <a:lstStyle/>
          <a:p>
            <a:fld id="{54451499-B02C-408A-9D4E-244021945515}" type="datetimeFigureOut">
              <a:rPr lang="en-IN" smtClean="0"/>
              <a:t>31-01-2026</a:t>
            </a:fld>
            <a:endParaRPr lang="en-IN"/>
          </a:p>
        </p:txBody>
      </p:sp>
      <p:sp>
        <p:nvSpPr>
          <p:cNvPr id="6" name="Footer Placeholder 5">
            <a:extLst>
              <a:ext uri="{FF2B5EF4-FFF2-40B4-BE49-F238E27FC236}">
                <a16:creationId xmlns:a16="http://schemas.microsoft.com/office/drawing/2014/main" id="{FFDBC2D1-5BBB-17E5-9C33-6362CC50899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E31BA74-01E5-718C-2772-BF497130EEF3}"/>
              </a:ext>
            </a:extLst>
          </p:cNvPr>
          <p:cNvSpPr>
            <a:spLocks noGrp="1"/>
          </p:cNvSpPr>
          <p:nvPr>
            <p:ph type="sldNum" sz="quarter" idx="12"/>
          </p:nvPr>
        </p:nvSpPr>
        <p:spPr/>
        <p:txBody>
          <a:bodyPr/>
          <a:lstStyle/>
          <a:p>
            <a:fld id="{C9005803-4FCC-415E-AA53-15103E3FAA81}" type="slidenum">
              <a:rPr lang="en-IN" smtClean="0"/>
              <a:t>‹#›</a:t>
            </a:fld>
            <a:endParaRPr lang="en-IN"/>
          </a:p>
        </p:txBody>
      </p:sp>
    </p:spTree>
    <p:extLst>
      <p:ext uri="{BB962C8B-B14F-4D97-AF65-F5344CB8AC3E}">
        <p14:creationId xmlns:p14="http://schemas.microsoft.com/office/powerpoint/2010/main" val="27939319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34FED9-39F6-FB3A-E49A-01B059D292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48563BF-9FF9-00ED-5343-DB10161F6D2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DD0F637-A291-5902-9B1C-B570D28D07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59E6422-702F-CA33-F215-8BBB40C94C0D}"/>
              </a:ext>
            </a:extLst>
          </p:cNvPr>
          <p:cNvSpPr>
            <a:spLocks noGrp="1"/>
          </p:cNvSpPr>
          <p:nvPr>
            <p:ph type="dt" sz="half" idx="10"/>
          </p:nvPr>
        </p:nvSpPr>
        <p:spPr/>
        <p:txBody>
          <a:bodyPr/>
          <a:lstStyle/>
          <a:p>
            <a:fld id="{54451499-B02C-408A-9D4E-244021945515}" type="datetimeFigureOut">
              <a:rPr lang="en-IN" smtClean="0"/>
              <a:t>31-01-2026</a:t>
            </a:fld>
            <a:endParaRPr lang="en-IN"/>
          </a:p>
        </p:txBody>
      </p:sp>
      <p:sp>
        <p:nvSpPr>
          <p:cNvPr id="6" name="Footer Placeholder 5">
            <a:extLst>
              <a:ext uri="{FF2B5EF4-FFF2-40B4-BE49-F238E27FC236}">
                <a16:creationId xmlns:a16="http://schemas.microsoft.com/office/drawing/2014/main" id="{1AE0C3F8-CC7B-2B40-2A1E-A68570C7DB0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8F4B83B-4CE1-EEBF-1779-6619F07B29C2}"/>
              </a:ext>
            </a:extLst>
          </p:cNvPr>
          <p:cNvSpPr>
            <a:spLocks noGrp="1"/>
          </p:cNvSpPr>
          <p:nvPr>
            <p:ph type="sldNum" sz="quarter" idx="12"/>
          </p:nvPr>
        </p:nvSpPr>
        <p:spPr/>
        <p:txBody>
          <a:bodyPr/>
          <a:lstStyle/>
          <a:p>
            <a:fld id="{C9005803-4FCC-415E-AA53-15103E3FAA81}" type="slidenum">
              <a:rPr lang="en-IN" smtClean="0"/>
              <a:t>‹#›</a:t>
            </a:fld>
            <a:endParaRPr lang="en-IN"/>
          </a:p>
        </p:txBody>
      </p:sp>
    </p:spTree>
    <p:extLst>
      <p:ext uri="{BB962C8B-B14F-4D97-AF65-F5344CB8AC3E}">
        <p14:creationId xmlns:p14="http://schemas.microsoft.com/office/powerpoint/2010/main" val="42801538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E4122-BAEB-D441-0915-B28D8628375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42241A9-71D4-7B98-1F0E-1992B9EB186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2EC5A36-3A4D-25A7-F70C-85253AEA977E}"/>
              </a:ext>
            </a:extLst>
          </p:cNvPr>
          <p:cNvSpPr>
            <a:spLocks noGrp="1"/>
          </p:cNvSpPr>
          <p:nvPr>
            <p:ph type="dt" sz="half" idx="10"/>
          </p:nvPr>
        </p:nvSpPr>
        <p:spPr/>
        <p:txBody>
          <a:bodyPr/>
          <a:lstStyle/>
          <a:p>
            <a:fld id="{54451499-B02C-408A-9D4E-244021945515}" type="datetimeFigureOut">
              <a:rPr lang="en-IN" smtClean="0"/>
              <a:t>31-01-2026</a:t>
            </a:fld>
            <a:endParaRPr lang="en-IN"/>
          </a:p>
        </p:txBody>
      </p:sp>
      <p:sp>
        <p:nvSpPr>
          <p:cNvPr id="5" name="Footer Placeholder 4">
            <a:extLst>
              <a:ext uri="{FF2B5EF4-FFF2-40B4-BE49-F238E27FC236}">
                <a16:creationId xmlns:a16="http://schemas.microsoft.com/office/drawing/2014/main" id="{E1DB7B4C-22BA-F883-D0D6-B34DC875325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427E529-9C70-BF8A-9F57-4352E8573881}"/>
              </a:ext>
            </a:extLst>
          </p:cNvPr>
          <p:cNvSpPr>
            <a:spLocks noGrp="1"/>
          </p:cNvSpPr>
          <p:nvPr>
            <p:ph type="sldNum" sz="quarter" idx="12"/>
          </p:nvPr>
        </p:nvSpPr>
        <p:spPr/>
        <p:txBody>
          <a:bodyPr/>
          <a:lstStyle/>
          <a:p>
            <a:fld id="{C9005803-4FCC-415E-AA53-15103E3FAA81}" type="slidenum">
              <a:rPr lang="en-IN" smtClean="0"/>
              <a:t>‹#›</a:t>
            </a:fld>
            <a:endParaRPr lang="en-IN"/>
          </a:p>
        </p:txBody>
      </p:sp>
    </p:spTree>
    <p:extLst>
      <p:ext uri="{BB962C8B-B14F-4D97-AF65-F5344CB8AC3E}">
        <p14:creationId xmlns:p14="http://schemas.microsoft.com/office/powerpoint/2010/main" val="42362421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5FD6D55-A32D-6E8E-15E9-DAA48048A9E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698BB71-3C66-7066-C15A-D21F54900B8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13999EB-EEA8-4835-16C7-E9A95BC57F32}"/>
              </a:ext>
            </a:extLst>
          </p:cNvPr>
          <p:cNvSpPr>
            <a:spLocks noGrp="1"/>
          </p:cNvSpPr>
          <p:nvPr>
            <p:ph type="dt" sz="half" idx="10"/>
          </p:nvPr>
        </p:nvSpPr>
        <p:spPr/>
        <p:txBody>
          <a:bodyPr/>
          <a:lstStyle/>
          <a:p>
            <a:fld id="{54451499-B02C-408A-9D4E-244021945515}" type="datetimeFigureOut">
              <a:rPr lang="en-IN" smtClean="0"/>
              <a:t>31-01-2026</a:t>
            </a:fld>
            <a:endParaRPr lang="en-IN"/>
          </a:p>
        </p:txBody>
      </p:sp>
      <p:sp>
        <p:nvSpPr>
          <p:cNvPr id="5" name="Footer Placeholder 4">
            <a:extLst>
              <a:ext uri="{FF2B5EF4-FFF2-40B4-BE49-F238E27FC236}">
                <a16:creationId xmlns:a16="http://schemas.microsoft.com/office/drawing/2014/main" id="{C77069E9-F3A1-391D-B60C-68FD9DF7A3A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48C5CE1-8788-0946-BCC1-1231B0183311}"/>
              </a:ext>
            </a:extLst>
          </p:cNvPr>
          <p:cNvSpPr>
            <a:spLocks noGrp="1"/>
          </p:cNvSpPr>
          <p:nvPr>
            <p:ph type="sldNum" sz="quarter" idx="12"/>
          </p:nvPr>
        </p:nvSpPr>
        <p:spPr/>
        <p:txBody>
          <a:bodyPr/>
          <a:lstStyle/>
          <a:p>
            <a:fld id="{C9005803-4FCC-415E-AA53-15103E3FAA81}" type="slidenum">
              <a:rPr lang="en-IN" smtClean="0"/>
              <a:t>‹#›</a:t>
            </a:fld>
            <a:endParaRPr lang="en-IN"/>
          </a:p>
        </p:txBody>
      </p:sp>
    </p:spTree>
    <p:extLst>
      <p:ext uri="{BB962C8B-B14F-4D97-AF65-F5344CB8AC3E}">
        <p14:creationId xmlns:p14="http://schemas.microsoft.com/office/powerpoint/2010/main" val="4386923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03D7AEB-5EA9-42FC-EF2D-4F86112079B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73847EF-2D05-B8A4-F264-95958994B70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AA241B6-B7DD-A006-9089-72CE1CF75EF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4451499-B02C-408A-9D4E-244021945515}" type="datetimeFigureOut">
              <a:rPr lang="en-IN" smtClean="0"/>
              <a:t>31-01-2026</a:t>
            </a:fld>
            <a:endParaRPr lang="en-IN"/>
          </a:p>
        </p:txBody>
      </p:sp>
      <p:sp>
        <p:nvSpPr>
          <p:cNvPr id="5" name="Footer Placeholder 4">
            <a:extLst>
              <a:ext uri="{FF2B5EF4-FFF2-40B4-BE49-F238E27FC236}">
                <a16:creationId xmlns:a16="http://schemas.microsoft.com/office/drawing/2014/main" id="{E6721DEA-975E-2D86-F3C0-AFF2C619563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87D64E93-5975-A619-68D7-5BB6582DBDA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9005803-4FCC-415E-AA53-15103E3FAA81}" type="slidenum">
              <a:rPr lang="en-IN" smtClean="0"/>
              <a:t>‹#›</a:t>
            </a:fld>
            <a:endParaRPr lang="en-IN"/>
          </a:p>
        </p:txBody>
      </p:sp>
    </p:spTree>
    <p:extLst>
      <p:ext uri="{BB962C8B-B14F-4D97-AF65-F5344CB8AC3E}">
        <p14:creationId xmlns:p14="http://schemas.microsoft.com/office/powerpoint/2010/main" val="42827482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4.jpe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image" Target="../media/image6.jpeg"/><Relationship Id="rId4" Type="http://schemas.openxmlformats.org/officeDocument/2006/relationships/image" Target="../media/image5.jpeg"/></Relationships>
</file>

<file path=ppt/slides/_rels/slide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image" Target="../media/image8.jpeg"/><Relationship Id="rId4" Type="http://schemas.openxmlformats.org/officeDocument/2006/relationships/image" Target="../media/image7.jpeg"/></Relationships>
</file>

<file path=ppt/slides/_rels/slide1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image" Target="../media/image10.jpeg"/><Relationship Id="rId4" Type="http://schemas.openxmlformats.org/officeDocument/2006/relationships/image" Target="../media/image9.jpeg"/></Relationships>
</file>

<file path=ppt/slides/_rels/slide1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bject 4">
            <a:extLst>
              <a:ext uri="{FF2B5EF4-FFF2-40B4-BE49-F238E27FC236}">
                <a16:creationId xmlns:a16="http://schemas.microsoft.com/office/drawing/2014/main" id="{F6BAF9FB-22DC-36BC-53BD-94BCB00C84E3}"/>
              </a:ext>
            </a:extLst>
          </p:cNvPr>
          <p:cNvPicPr/>
          <p:nvPr/>
        </p:nvPicPr>
        <p:blipFill>
          <a:blip r:embed="rId2" cstate="print"/>
          <a:stretch>
            <a:fillRect/>
          </a:stretch>
        </p:blipFill>
        <p:spPr>
          <a:xfrm>
            <a:off x="426026" y="161266"/>
            <a:ext cx="11076709" cy="986724"/>
          </a:xfrm>
          <a:prstGeom prst="rect">
            <a:avLst/>
          </a:prstGeom>
        </p:spPr>
      </p:pic>
      <p:sp>
        <p:nvSpPr>
          <p:cNvPr id="5" name="TextBox 4">
            <a:extLst>
              <a:ext uri="{FF2B5EF4-FFF2-40B4-BE49-F238E27FC236}">
                <a16:creationId xmlns:a16="http://schemas.microsoft.com/office/drawing/2014/main" id="{D99309C2-28DD-4ACF-1935-56B710321A53}"/>
              </a:ext>
            </a:extLst>
          </p:cNvPr>
          <p:cNvSpPr txBox="1"/>
          <p:nvPr/>
        </p:nvSpPr>
        <p:spPr>
          <a:xfrm>
            <a:off x="2156644" y="1513028"/>
            <a:ext cx="8142764" cy="2923877"/>
          </a:xfrm>
          <a:prstGeom prst="rect">
            <a:avLst/>
          </a:prstGeom>
          <a:noFill/>
        </p:spPr>
        <p:txBody>
          <a:bodyPr wrap="square" rtlCol="0">
            <a:spAutoFit/>
          </a:bodyPr>
          <a:lstStyle/>
          <a:p>
            <a:pPr algn="ctr"/>
            <a:r>
              <a:rPr lang="en-US" sz="4000" b="1" dirty="0">
                <a:latin typeface="Times New Roman" panose="02020603050405020304" pitchFamily="18" charset="0"/>
                <a:ea typeface="Calibri" panose="020F0502020204030204" pitchFamily="34" charset="0"/>
                <a:cs typeface="Times New Roman" panose="02020603050405020304" pitchFamily="18" charset="0"/>
              </a:rPr>
              <a:t>STUDENT PERFORMANCE ANALYSIS  USING DATA VISUALIZATION</a:t>
            </a:r>
          </a:p>
          <a:p>
            <a:pPr algn="ctr"/>
            <a:r>
              <a:rPr lang="en-US" sz="3200" dirty="0">
                <a:latin typeface="Times New Roman" panose="02020603050405020304" pitchFamily="18" charset="0"/>
                <a:ea typeface="Calibri" panose="020F0502020204030204" pitchFamily="34" charset="0"/>
                <a:cs typeface="Times New Roman" panose="02020603050405020304" pitchFamily="18" charset="0"/>
              </a:rPr>
              <a:t>DSA0613-DATA HANDLING AND VISUVALIZATION FOR DATA ANALYTICS</a:t>
            </a:r>
            <a:endParaRPr lang="en-IN" sz="32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9B10AE90-56CE-4C0D-9EE6-3BD7A5554F59}"/>
              </a:ext>
            </a:extLst>
          </p:cNvPr>
          <p:cNvSpPr txBox="1"/>
          <p:nvPr/>
        </p:nvSpPr>
        <p:spPr>
          <a:xfrm>
            <a:off x="124319" y="4518898"/>
            <a:ext cx="3312102" cy="3416320"/>
          </a:xfrm>
          <a:prstGeom prst="rect">
            <a:avLst/>
          </a:prstGeom>
          <a:noFill/>
        </p:spPr>
        <p:txBody>
          <a:bodyPr wrap="square">
            <a:spAutoFit/>
          </a:bodyPr>
          <a:lstStyle/>
          <a:p>
            <a:pPr marL="114300" indent="0">
              <a:buNone/>
            </a:pPr>
            <a:r>
              <a:rPr lang="en-US" sz="2400" b="1" dirty="0">
                <a:solidFill>
                  <a:schemeClr val="tx1"/>
                </a:solidFill>
                <a:latin typeface="Times New Roman" panose="02020603050405020304" pitchFamily="18" charset="0"/>
                <a:cs typeface="Times New Roman" panose="02020603050405020304" pitchFamily="18" charset="0"/>
              </a:rPr>
              <a:t>GUIDED BY:</a:t>
            </a:r>
          </a:p>
          <a:p>
            <a:pPr marL="114300" indent="0">
              <a:buNone/>
            </a:pPr>
            <a:r>
              <a:rPr lang="en-US" sz="2000" dirty="0">
                <a:latin typeface="Times New Roman" panose="02020603050405020304" pitchFamily="18" charset="0"/>
                <a:cs typeface="Times New Roman" panose="02020603050405020304" pitchFamily="18" charset="0"/>
              </a:rPr>
              <a:t>Dr.Kumaragurubaran T</a:t>
            </a:r>
          </a:p>
          <a:p>
            <a:pPr marL="114300" indent="0">
              <a:buNone/>
            </a:pPr>
            <a:r>
              <a:rPr lang="en-US" sz="2000" dirty="0">
                <a:latin typeface="Times New Roman" panose="02020603050405020304" pitchFamily="18" charset="0"/>
                <a:cs typeface="Times New Roman" panose="02020603050405020304" pitchFamily="18" charset="0"/>
              </a:rPr>
              <a:t>Dr.Senthilvadivu S</a:t>
            </a:r>
          </a:p>
          <a:p>
            <a:pPr marL="114300" indent="0">
              <a:buNone/>
            </a:pPr>
            <a:r>
              <a:rPr lang="en-US" sz="2000" dirty="0">
                <a:latin typeface="Times New Roman" panose="02020603050405020304" pitchFamily="18" charset="0"/>
                <a:cs typeface="Times New Roman" panose="02020603050405020304" pitchFamily="18" charset="0"/>
              </a:rPr>
              <a:t>Department of computer science and Engineering,</a:t>
            </a:r>
          </a:p>
          <a:p>
            <a:pPr marL="114300" indent="0">
              <a:buNone/>
            </a:pPr>
            <a:r>
              <a:rPr lang="en-US" sz="2000" dirty="0">
                <a:latin typeface="Times New Roman" panose="02020603050405020304" pitchFamily="18" charset="0"/>
                <a:cs typeface="Times New Roman" panose="02020603050405020304" pitchFamily="18" charset="0"/>
              </a:rPr>
              <a:t>Saveetha School Of Engineering</a:t>
            </a:r>
          </a:p>
          <a:p>
            <a:pPr marL="114300" indent="0">
              <a:buNone/>
            </a:pPr>
            <a:endParaRPr lang="en-US" b="1" dirty="0">
              <a:latin typeface="Times New Roman" panose="02020603050405020304" pitchFamily="18" charset="0"/>
              <a:cs typeface="Times New Roman" panose="02020603050405020304" pitchFamily="18" charset="0"/>
            </a:endParaRPr>
          </a:p>
          <a:p>
            <a:pPr marL="114300" indent="0">
              <a:buNone/>
            </a:pPr>
            <a:endParaRPr lang="en-US" sz="1800" b="1" dirty="0">
              <a:solidFill>
                <a:schemeClr val="tx1"/>
              </a:solidFill>
              <a:latin typeface="Times New Roman" panose="02020603050405020304" pitchFamily="18" charset="0"/>
              <a:cs typeface="Times New Roman" panose="02020603050405020304" pitchFamily="18" charset="0"/>
            </a:endParaRPr>
          </a:p>
          <a:p>
            <a:pPr marL="114300" indent="0">
              <a:buNone/>
            </a:pPr>
            <a:endParaRPr lang="en-US" sz="1800" b="1" dirty="0">
              <a:solidFill>
                <a:schemeClr val="tx1"/>
              </a:solidFill>
              <a:latin typeface="Times New Roman" panose="02020603050405020304" pitchFamily="18" charset="0"/>
              <a:cs typeface="Times New Roman" panose="02020603050405020304" pitchFamily="18" charset="0"/>
            </a:endParaRPr>
          </a:p>
          <a:p>
            <a:pPr marL="114300"/>
            <a:r>
              <a:rPr lang="en-IN" sz="1800" b="1" dirty="0">
                <a:solidFill>
                  <a:srgbClr val="000000"/>
                </a:solidFill>
                <a:latin typeface="Times New Roman" panose="02020603050405020304" pitchFamily="18" charset="0"/>
                <a:cs typeface="Times New Roman" panose="02020603050405020304" pitchFamily="18" charset="0"/>
              </a:rPr>
              <a:t>	 	 </a:t>
            </a:r>
            <a:endParaRPr lang="en-IN" dirty="0"/>
          </a:p>
        </p:txBody>
      </p:sp>
      <p:sp>
        <p:nvSpPr>
          <p:cNvPr id="8" name="TextBox 7">
            <a:extLst>
              <a:ext uri="{FF2B5EF4-FFF2-40B4-BE49-F238E27FC236}">
                <a16:creationId xmlns:a16="http://schemas.microsoft.com/office/drawing/2014/main" id="{C7E6E68D-AB46-3A17-8573-EEEBA93DF7E2}"/>
              </a:ext>
            </a:extLst>
          </p:cNvPr>
          <p:cNvSpPr txBox="1"/>
          <p:nvPr/>
        </p:nvSpPr>
        <p:spPr>
          <a:xfrm>
            <a:off x="8531135" y="4518898"/>
            <a:ext cx="3536546" cy="2339102"/>
          </a:xfrm>
          <a:prstGeom prst="rect">
            <a:avLst/>
          </a:prstGeom>
          <a:noFill/>
        </p:spPr>
        <p:txBody>
          <a:bodyPr wrap="none" rtlCol="0">
            <a:spAutoFit/>
          </a:bodyPr>
          <a:lstStyle/>
          <a:p>
            <a:r>
              <a:rPr lang="en-US" sz="2400" b="1" dirty="0">
                <a:latin typeface="Times New Roman" panose="02020603050405020304" pitchFamily="18" charset="0"/>
                <a:cs typeface="Times New Roman" panose="02020603050405020304" pitchFamily="18" charset="0"/>
              </a:rPr>
              <a:t>PRESENTED BY:</a:t>
            </a:r>
          </a:p>
          <a:p>
            <a:r>
              <a:rPr lang="en-US" sz="2000" dirty="0">
                <a:latin typeface="Times New Roman" panose="02020603050405020304" pitchFamily="18" charset="0"/>
                <a:cs typeface="Times New Roman" panose="02020603050405020304" pitchFamily="18" charset="0"/>
              </a:rPr>
              <a:t>A.Bhavya(192424417)</a:t>
            </a:r>
          </a:p>
          <a:p>
            <a:r>
              <a:rPr lang="en-US" sz="2000" dirty="0">
                <a:latin typeface="Times New Roman" panose="02020603050405020304" pitchFamily="18" charset="0"/>
                <a:cs typeface="Times New Roman" panose="02020603050405020304" pitchFamily="18" charset="0"/>
              </a:rPr>
              <a:t>A.Sai Joshitha(192424220)</a:t>
            </a:r>
          </a:p>
          <a:p>
            <a:r>
              <a:rPr lang="en-US" sz="2000" dirty="0">
                <a:latin typeface="Times New Roman" panose="02020603050405020304" pitchFamily="18" charset="0"/>
                <a:cs typeface="Times New Roman" panose="02020603050405020304" pitchFamily="18" charset="0"/>
              </a:rPr>
              <a:t>Department of AIDS</a:t>
            </a:r>
          </a:p>
          <a:p>
            <a:r>
              <a:rPr lang="en-US" sz="2000" dirty="0">
                <a:latin typeface="Times New Roman" panose="02020603050405020304" pitchFamily="18" charset="0"/>
                <a:cs typeface="Times New Roman" panose="02020603050405020304" pitchFamily="18" charset="0"/>
              </a:rPr>
              <a:t>Saveetha School Of Engineering</a:t>
            </a:r>
          </a:p>
          <a:p>
            <a:r>
              <a:rPr lang="en-US" sz="2400" b="1" dirty="0">
                <a:latin typeface="Times New Roman" panose="02020603050405020304" pitchFamily="18" charset="0"/>
                <a:cs typeface="Times New Roman" panose="02020603050405020304" pitchFamily="18" charset="0"/>
              </a:rPr>
              <a:t>Date</a:t>
            </a:r>
            <a:r>
              <a:rPr lang="en-US" sz="2400" dirty="0">
                <a:latin typeface="Times New Roman" panose="02020603050405020304" pitchFamily="18" charset="0"/>
                <a:cs typeface="Times New Roman" panose="02020603050405020304" pitchFamily="18" charset="0"/>
              </a:rPr>
              <a:t>:[05/02/26]</a:t>
            </a:r>
          </a:p>
          <a:p>
            <a:endParaRPr lang="en-IN" dirty="0"/>
          </a:p>
        </p:txBody>
      </p:sp>
    </p:spTree>
    <p:extLst>
      <p:ext uri="{BB962C8B-B14F-4D97-AF65-F5344CB8AC3E}">
        <p14:creationId xmlns:p14="http://schemas.microsoft.com/office/powerpoint/2010/main" val="30344617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0DEDFC8-0818-6624-4A45-D87088E188FC}"/>
              </a:ext>
            </a:extLst>
          </p:cNvPr>
          <p:cNvPicPr/>
          <p:nvPr/>
        </p:nvPicPr>
        <p:blipFill>
          <a:blip r:embed="rId2" cstate="print">
            <a:extLst>
              <a:ext uri="{28A0092B-C50C-407E-A947-70E740481C1C}">
                <a14:useLocalDpi xmlns:a14="http://schemas.microsoft.com/office/drawing/2010/main" val="0"/>
              </a:ext>
            </a:extLst>
          </a:blip>
          <a:srcRect/>
          <a:stretch>
            <a:fillRect/>
          </a:stretch>
        </p:blipFill>
        <p:spPr>
          <a:xfrm>
            <a:off x="243052" y="139671"/>
            <a:ext cx="1135117" cy="1138411"/>
          </a:xfrm>
          <a:prstGeom prst="rect">
            <a:avLst/>
          </a:prstGeom>
          <a:noFill/>
        </p:spPr>
      </p:pic>
      <p:pic>
        <p:nvPicPr>
          <p:cNvPr id="5" name="Picture 4">
            <a:extLst>
              <a:ext uri="{FF2B5EF4-FFF2-40B4-BE49-F238E27FC236}">
                <a16:creationId xmlns:a16="http://schemas.microsoft.com/office/drawing/2014/main" id="{5271D543-165A-5913-D5A7-CC71ED052F45}"/>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0514231" y="191626"/>
            <a:ext cx="1520114" cy="1138411"/>
          </a:xfrm>
          <a:prstGeom prst="rect">
            <a:avLst/>
          </a:prstGeom>
          <a:noFill/>
          <a:ln>
            <a:noFill/>
          </a:ln>
        </p:spPr>
      </p:pic>
      <p:sp>
        <p:nvSpPr>
          <p:cNvPr id="6" name="TextBox 5">
            <a:extLst>
              <a:ext uri="{FF2B5EF4-FFF2-40B4-BE49-F238E27FC236}">
                <a16:creationId xmlns:a16="http://schemas.microsoft.com/office/drawing/2014/main" id="{DC44F227-D149-9B0C-F405-1CB5C9B80D4D}"/>
              </a:ext>
            </a:extLst>
          </p:cNvPr>
          <p:cNvSpPr txBox="1"/>
          <p:nvPr/>
        </p:nvSpPr>
        <p:spPr>
          <a:xfrm>
            <a:off x="4016010" y="345332"/>
            <a:ext cx="3534943" cy="830997"/>
          </a:xfrm>
          <a:prstGeom prst="rect">
            <a:avLst/>
          </a:prstGeom>
          <a:noFill/>
        </p:spPr>
        <p:txBody>
          <a:bodyPr wrap="none" rtlCol="0">
            <a:spAutoFit/>
          </a:bodyPr>
          <a:lstStyle/>
          <a:p>
            <a:pPr algn="ctr"/>
            <a:r>
              <a:rPr lang="en-US" sz="4800" b="1" dirty="0">
                <a:latin typeface="Times New Roman" panose="02020603050405020304" pitchFamily="18" charset="0"/>
                <a:ea typeface="Calibri" panose="020F0502020204030204" pitchFamily="34" charset="0"/>
                <a:cs typeface="Times New Roman" panose="02020603050405020304" pitchFamily="18" charset="0"/>
              </a:rPr>
              <a:t>ABSTRACT</a:t>
            </a:r>
            <a:endParaRPr lang="en-IN" sz="4800" b="1"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12" name="TextBox 11">
            <a:extLst>
              <a:ext uri="{FF2B5EF4-FFF2-40B4-BE49-F238E27FC236}">
                <a16:creationId xmlns:a16="http://schemas.microsoft.com/office/drawing/2014/main" id="{3B275F49-DF40-CDB6-7D7D-239024AF7639}"/>
              </a:ext>
            </a:extLst>
          </p:cNvPr>
          <p:cNvSpPr txBox="1"/>
          <p:nvPr/>
        </p:nvSpPr>
        <p:spPr>
          <a:xfrm>
            <a:off x="1224760" y="1623767"/>
            <a:ext cx="9561004" cy="4486088"/>
          </a:xfrm>
          <a:prstGeom prst="rect">
            <a:avLst/>
          </a:prstGeom>
          <a:noFill/>
        </p:spPr>
        <p:txBody>
          <a:bodyPr wrap="square">
            <a:spAutoFit/>
          </a:bodyPr>
          <a:lstStyle/>
          <a:p>
            <a:pPr algn="just">
              <a:lnSpc>
                <a:spcPct val="150000"/>
              </a:lnSpc>
            </a:pPr>
            <a:r>
              <a:rPr lang="en-IN" sz="2400" dirty="0">
                <a:latin typeface="Times New Roman" panose="02020603050405020304" pitchFamily="18" charset="0"/>
                <a:ea typeface="Calibri" panose="020F0502020204030204" pitchFamily="34" charset="0"/>
                <a:cs typeface="Times New Roman" panose="02020603050405020304" pitchFamily="18" charset="0"/>
              </a:rPr>
              <a:t>This project focuses on analyzing student performance through data visualization techniques. Student data, including attendance, study hours, internal marks, exam scores, and subject-wise grades, is collected and preprocessed for accuracy. Using charts, graphs, scatter plots, and heatmaps, the project identifies trends, patterns, and correlations in performance. The analysis highlights strengths, weaknesses, and factors affecting academic results, providing actionable insights to support data-driven decisions and improve overall student learning outcomes.</a:t>
            </a:r>
          </a:p>
        </p:txBody>
      </p:sp>
    </p:spTree>
    <p:extLst>
      <p:ext uri="{BB962C8B-B14F-4D97-AF65-F5344CB8AC3E}">
        <p14:creationId xmlns:p14="http://schemas.microsoft.com/office/powerpoint/2010/main" val="17421071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92DFC77-4940-F178-4844-C9CE31472A15}"/>
              </a:ext>
            </a:extLst>
          </p:cNvPr>
          <p:cNvSpPr txBox="1"/>
          <p:nvPr/>
        </p:nvSpPr>
        <p:spPr>
          <a:xfrm>
            <a:off x="3543057" y="321844"/>
            <a:ext cx="5105885" cy="830997"/>
          </a:xfrm>
          <a:prstGeom prst="rect">
            <a:avLst/>
          </a:prstGeom>
          <a:noFill/>
        </p:spPr>
        <p:txBody>
          <a:bodyPr wrap="none" rtlCol="0">
            <a:spAutoFit/>
          </a:bodyPr>
          <a:lstStyle/>
          <a:p>
            <a:pPr algn="ctr"/>
            <a:r>
              <a:rPr lang="en-IN" sz="4800" b="1" dirty="0">
                <a:latin typeface="Times New Roman" panose="02020603050405020304" pitchFamily="18" charset="0"/>
                <a:cs typeface="Times New Roman" panose="02020603050405020304" pitchFamily="18" charset="0"/>
              </a:rPr>
              <a:t>INTRODUCTION</a:t>
            </a:r>
          </a:p>
        </p:txBody>
      </p:sp>
      <p:sp>
        <p:nvSpPr>
          <p:cNvPr id="3" name="TextBox 2">
            <a:extLst>
              <a:ext uri="{FF2B5EF4-FFF2-40B4-BE49-F238E27FC236}">
                <a16:creationId xmlns:a16="http://schemas.microsoft.com/office/drawing/2014/main" id="{37749EA3-EA2D-F908-FAC1-550540762DA3}"/>
              </a:ext>
            </a:extLst>
          </p:cNvPr>
          <p:cNvSpPr txBox="1"/>
          <p:nvPr/>
        </p:nvSpPr>
        <p:spPr>
          <a:xfrm>
            <a:off x="561572" y="1524207"/>
            <a:ext cx="11068853" cy="5011949"/>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Student Performance Analysis involves studying academic data such as marks, attendance, and assessment scores.</a:t>
            </a:r>
          </a:p>
          <a:p>
            <a:pPr marL="34290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Data visualization helps convert complex student data into easy-to-understand graphical formats.</a:t>
            </a:r>
          </a:p>
          <a:p>
            <a:pPr marL="34290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Visual tools like bar charts, line graphs, scatter plots, and box plots highlight performance trends clearly.</a:t>
            </a:r>
          </a:p>
          <a:p>
            <a:pPr marL="34290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It enables quick identification of students strengths and areas that need improvement.</a:t>
            </a:r>
          </a:p>
          <a:p>
            <a:pPr marL="34290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Performance comparison across subjects, semesters, or students becomes easier through visuals.</a:t>
            </a:r>
          </a:p>
        </p:txBody>
      </p:sp>
      <p:pic>
        <p:nvPicPr>
          <p:cNvPr id="5" name="Picture 4">
            <a:extLst>
              <a:ext uri="{FF2B5EF4-FFF2-40B4-BE49-F238E27FC236}">
                <a16:creationId xmlns:a16="http://schemas.microsoft.com/office/drawing/2014/main" id="{5A703493-7857-5424-6AF8-78E4D9B5E04A}"/>
              </a:ext>
            </a:extLst>
          </p:cNvPr>
          <p:cNvPicPr/>
          <p:nvPr/>
        </p:nvPicPr>
        <p:blipFill>
          <a:blip r:embed="rId2" cstate="print">
            <a:extLst>
              <a:ext uri="{28A0092B-C50C-407E-A947-70E740481C1C}">
                <a14:useLocalDpi xmlns:a14="http://schemas.microsoft.com/office/drawing/2010/main" val="0"/>
              </a:ext>
            </a:extLst>
          </a:blip>
          <a:srcRect/>
          <a:stretch>
            <a:fillRect/>
          </a:stretch>
        </p:blipFill>
        <p:spPr>
          <a:xfrm>
            <a:off x="243052" y="139671"/>
            <a:ext cx="1135117" cy="1138411"/>
          </a:xfrm>
          <a:prstGeom prst="rect">
            <a:avLst/>
          </a:prstGeom>
          <a:noFill/>
        </p:spPr>
      </p:pic>
      <p:pic>
        <p:nvPicPr>
          <p:cNvPr id="6" name="Picture 5">
            <a:extLst>
              <a:ext uri="{FF2B5EF4-FFF2-40B4-BE49-F238E27FC236}">
                <a16:creationId xmlns:a16="http://schemas.microsoft.com/office/drawing/2014/main" id="{48930A37-FB80-7B0A-4571-38F00E4061BB}"/>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0514231" y="191626"/>
            <a:ext cx="1520114" cy="1138411"/>
          </a:xfrm>
          <a:prstGeom prst="rect">
            <a:avLst/>
          </a:prstGeom>
          <a:noFill/>
          <a:ln>
            <a:noFill/>
          </a:ln>
        </p:spPr>
      </p:pic>
    </p:spTree>
    <p:extLst>
      <p:ext uri="{BB962C8B-B14F-4D97-AF65-F5344CB8AC3E}">
        <p14:creationId xmlns:p14="http://schemas.microsoft.com/office/powerpoint/2010/main" val="20366868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A348E36-75ED-025B-2285-520BD667C537}"/>
              </a:ext>
            </a:extLst>
          </p:cNvPr>
          <p:cNvSpPr txBox="1"/>
          <p:nvPr/>
        </p:nvSpPr>
        <p:spPr>
          <a:xfrm>
            <a:off x="3718058" y="374073"/>
            <a:ext cx="4083170" cy="830997"/>
          </a:xfrm>
          <a:prstGeom prst="rect">
            <a:avLst/>
          </a:prstGeom>
          <a:noFill/>
        </p:spPr>
        <p:txBody>
          <a:bodyPr wrap="none" rtlCol="0">
            <a:spAutoFit/>
          </a:bodyPr>
          <a:lstStyle/>
          <a:p>
            <a:pPr algn="ctr"/>
            <a:r>
              <a:rPr lang="en-IN" sz="4800" b="1" dirty="0">
                <a:latin typeface="Times New Roman" panose="02020603050405020304" pitchFamily="18" charset="0"/>
                <a:cs typeface="Times New Roman" panose="02020603050405020304" pitchFamily="18" charset="0"/>
              </a:rPr>
              <a:t>OBJECTIVES</a:t>
            </a:r>
          </a:p>
        </p:txBody>
      </p:sp>
      <p:pic>
        <p:nvPicPr>
          <p:cNvPr id="2" name="Picture 1">
            <a:extLst>
              <a:ext uri="{FF2B5EF4-FFF2-40B4-BE49-F238E27FC236}">
                <a16:creationId xmlns:a16="http://schemas.microsoft.com/office/drawing/2014/main" id="{60EC1CEC-DF4C-73D5-E768-93BA54455EA4}"/>
              </a:ext>
            </a:extLst>
          </p:cNvPr>
          <p:cNvPicPr/>
          <p:nvPr/>
        </p:nvPicPr>
        <p:blipFill>
          <a:blip r:embed="rId2" cstate="print">
            <a:extLst>
              <a:ext uri="{28A0092B-C50C-407E-A947-70E740481C1C}">
                <a14:useLocalDpi xmlns:a14="http://schemas.microsoft.com/office/drawing/2010/main" val="0"/>
              </a:ext>
            </a:extLst>
          </a:blip>
          <a:srcRect/>
          <a:stretch>
            <a:fillRect/>
          </a:stretch>
        </p:blipFill>
        <p:spPr>
          <a:xfrm>
            <a:off x="243052" y="139671"/>
            <a:ext cx="1135117" cy="1138411"/>
          </a:xfrm>
          <a:prstGeom prst="rect">
            <a:avLst/>
          </a:prstGeom>
          <a:noFill/>
        </p:spPr>
      </p:pic>
      <p:pic>
        <p:nvPicPr>
          <p:cNvPr id="3" name="Picture 2">
            <a:extLst>
              <a:ext uri="{FF2B5EF4-FFF2-40B4-BE49-F238E27FC236}">
                <a16:creationId xmlns:a16="http://schemas.microsoft.com/office/drawing/2014/main" id="{88345C81-1ABA-5720-0887-E63FEB693CE3}"/>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0514231" y="191626"/>
            <a:ext cx="1520114" cy="1138411"/>
          </a:xfrm>
          <a:prstGeom prst="rect">
            <a:avLst/>
          </a:prstGeom>
          <a:noFill/>
          <a:ln>
            <a:noFill/>
          </a:ln>
        </p:spPr>
      </p:pic>
      <p:sp>
        <p:nvSpPr>
          <p:cNvPr id="6" name="TextBox 5">
            <a:extLst>
              <a:ext uri="{FF2B5EF4-FFF2-40B4-BE49-F238E27FC236}">
                <a16:creationId xmlns:a16="http://schemas.microsoft.com/office/drawing/2014/main" id="{8B639490-A3D9-5BA2-395C-0BDDC583F8F5}"/>
              </a:ext>
            </a:extLst>
          </p:cNvPr>
          <p:cNvSpPr txBox="1"/>
          <p:nvPr/>
        </p:nvSpPr>
        <p:spPr>
          <a:xfrm>
            <a:off x="1126430" y="1683328"/>
            <a:ext cx="10147858" cy="4457952"/>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To collect and organize student academic data such as marks, attendance, and assessment scores.</a:t>
            </a:r>
          </a:p>
          <a:p>
            <a:pPr marL="34290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To analyze student performance using graphical and visual techniques.</a:t>
            </a:r>
          </a:p>
          <a:p>
            <a:pPr marL="34290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To identify patterns, trends, and variations in student academic performance.</a:t>
            </a:r>
          </a:p>
          <a:p>
            <a:pPr marL="34290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To compare student performance across subjects, semesters, or academic years.</a:t>
            </a:r>
          </a:p>
          <a:p>
            <a:pPr marL="34290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To detect low-performing students and learning gaps at an early stage.</a:t>
            </a:r>
          </a:p>
          <a:p>
            <a:pPr marL="34290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To study the impact of attendance and behavior on academic outcomes.</a:t>
            </a:r>
          </a:p>
        </p:txBody>
      </p:sp>
    </p:spTree>
    <p:extLst>
      <p:ext uri="{BB962C8B-B14F-4D97-AF65-F5344CB8AC3E}">
        <p14:creationId xmlns:p14="http://schemas.microsoft.com/office/powerpoint/2010/main" val="5169036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C2BA15A-794D-37DA-0A66-A2F91AE8CDAE}"/>
              </a:ext>
            </a:extLst>
          </p:cNvPr>
          <p:cNvSpPr txBox="1"/>
          <p:nvPr/>
        </p:nvSpPr>
        <p:spPr>
          <a:xfrm>
            <a:off x="2634571" y="280554"/>
            <a:ext cx="6922857" cy="830997"/>
          </a:xfrm>
          <a:prstGeom prst="rect">
            <a:avLst/>
          </a:prstGeom>
          <a:noFill/>
        </p:spPr>
        <p:txBody>
          <a:bodyPr wrap="none" rtlCol="0">
            <a:spAutoFit/>
          </a:bodyPr>
          <a:lstStyle/>
          <a:p>
            <a:pPr algn="ctr"/>
            <a:r>
              <a:rPr lang="en-IN" sz="4800" b="1" dirty="0">
                <a:latin typeface="Times New Roman" panose="02020603050405020304" pitchFamily="18" charset="0"/>
                <a:cs typeface="Times New Roman" panose="02020603050405020304" pitchFamily="18" charset="0"/>
              </a:rPr>
              <a:t>LITERATURE REVIEW</a:t>
            </a:r>
          </a:p>
        </p:txBody>
      </p:sp>
      <p:pic>
        <p:nvPicPr>
          <p:cNvPr id="2" name="Picture 1">
            <a:extLst>
              <a:ext uri="{FF2B5EF4-FFF2-40B4-BE49-F238E27FC236}">
                <a16:creationId xmlns:a16="http://schemas.microsoft.com/office/drawing/2014/main" id="{71469AE6-60D9-4F04-0252-1AE7851B8009}"/>
              </a:ext>
            </a:extLst>
          </p:cNvPr>
          <p:cNvPicPr/>
          <p:nvPr/>
        </p:nvPicPr>
        <p:blipFill>
          <a:blip r:embed="rId2" cstate="print">
            <a:extLst>
              <a:ext uri="{28A0092B-C50C-407E-A947-70E740481C1C}">
                <a14:useLocalDpi xmlns:a14="http://schemas.microsoft.com/office/drawing/2010/main" val="0"/>
              </a:ext>
            </a:extLst>
          </a:blip>
          <a:srcRect/>
          <a:stretch>
            <a:fillRect/>
          </a:stretch>
        </p:blipFill>
        <p:spPr>
          <a:xfrm>
            <a:off x="243052" y="139671"/>
            <a:ext cx="1135117" cy="1138411"/>
          </a:xfrm>
          <a:prstGeom prst="rect">
            <a:avLst/>
          </a:prstGeom>
          <a:noFill/>
        </p:spPr>
      </p:pic>
      <p:pic>
        <p:nvPicPr>
          <p:cNvPr id="3" name="Picture 2">
            <a:extLst>
              <a:ext uri="{FF2B5EF4-FFF2-40B4-BE49-F238E27FC236}">
                <a16:creationId xmlns:a16="http://schemas.microsoft.com/office/drawing/2014/main" id="{75D090A8-C354-289B-8937-54E75D1388B6}"/>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0514231" y="191626"/>
            <a:ext cx="1520114" cy="1138411"/>
          </a:xfrm>
          <a:prstGeom prst="rect">
            <a:avLst/>
          </a:prstGeom>
          <a:noFill/>
          <a:ln>
            <a:noFill/>
          </a:ln>
        </p:spPr>
      </p:pic>
      <p:sp>
        <p:nvSpPr>
          <p:cNvPr id="6" name="TextBox 5">
            <a:extLst>
              <a:ext uri="{FF2B5EF4-FFF2-40B4-BE49-F238E27FC236}">
                <a16:creationId xmlns:a16="http://schemas.microsoft.com/office/drawing/2014/main" id="{F5CCB9A9-E009-B310-352B-CAE367C25F85}"/>
              </a:ext>
            </a:extLst>
          </p:cNvPr>
          <p:cNvSpPr txBox="1"/>
          <p:nvPr/>
        </p:nvSpPr>
        <p:spPr>
          <a:xfrm>
            <a:off x="0" y="1330037"/>
            <a:ext cx="12192000" cy="5587940"/>
          </a:xfrm>
          <a:prstGeom prst="rect">
            <a:avLst/>
          </a:prstGeom>
          <a:noFill/>
        </p:spPr>
        <p:txBody>
          <a:bodyPr wrap="square">
            <a:spAutoFit/>
          </a:bodyPr>
          <a:lstStyle/>
          <a:p>
            <a:pPr marL="342900" indent="-342900" algn="just">
              <a:lnSpc>
                <a:spcPct val="150000"/>
              </a:lnSpc>
              <a:buFont typeface="Wingdings" panose="05000000000000000000" pitchFamily="2" charset="2"/>
              <a:buChar char="Ø"/>
            </a:pPr>
            <a:r>
              <a:rPr lang="en-IN" sz="2000" b="1" dirty="0"/>
              <a:t>Big Data &amp; Student Analytics (2024</a:t>
            </a:r>
            <a:r>
              <a:rPr lang="en-IN" sz="2000" dirty="0"/>
              <a:t>)</a:t>
            </a:r>
          </a:p>
          <a:p>
            <a:pPr marL="342900" indent="-342900" algn="just">
              <a:lnSpc>
                <a:spcPct val="150000"/>
              </a:lnSpc>
              <a:buFont typeface="Wingdings" panose="05000000000000000000" pitchFamily="2" charset="2"/>
              <a:buChar char="Ø"/>
            </a:pPr>
            <a:r>
              <a:rPr lang="en-IN" sz="2000" dirty="0"/>
              <a:t>A study in Scientific Innovation in Asia provides a state‑of‑the‑art overview of student performance analysis within big data contexts, discussing how visualization complements data preprocessing and predictive analytics for holistic performance interpretation.</a:t>
            </a:r>
          </a:p>
          <a:p>
            <a:pPr marL="342900" indent="-342900" algn="just">
              <a:lnSpc>
                <a:spcPct val="150000"/>
              </a:lnSpc>
              <a:buFont typeface="Wingdings" panose="05000000000000000000" pitchFamily="2" charset="2"/>
              <a:buChar char="Ø"/>
            </a:pPr>
            <a:r>
              <a:rPr lang="en-US" sz="2000" b="1" dirty="0"/>
              <a:t>Learning Analytics Dashboards Review (2024)</a:t>
            </a:r>
          </a:p>
          <a:p>
            <a:pPr marL="342900" indent="-342900" algn="just">
              <a:lnSpc>
                <a:spcPct val="150000"/>
              </a:lnSpc>
              <a:buFont typeface="Wingdings" panose="05000000000000000000" pitchFamily="2" charset="2"/>
              <a:buChar char="Ø"/>
            </a:pPr>
            <a:r>
              <a:rPr lang="en-US" sz="2000" dirty="0"/>
              <a:t> A systematic review synthesizes research on the design and deployment of learning analytics dashboards, showing they are widely used to support academic performance prediction and self‑regulated learning, but also noting challenges in real classroom implementations and ethical issues.</a:t>
            </a:r>
          </a:p>
          <a:p>
            <a:pPr marL="342900" indent="-342900" algn="just">
              <a:lnSpc>
                <a:spcPct val="150000"/>
              </a:lnSpc>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Educational Technology &amp; Performance Outcomes (2023)</a:t>
            </a:r>
          </a:p>
          <a:p>
            <a:pPr marL="342900" indent="-342900" algn="just">
              <a:lnSpc>
                <a:spcPct val="150000"/>
              </a:lnSpc>
              <a:buFont typeface="Wingdings" panose="05000000000000000000" pitchFamily="2" charset="2"/>
              <a:buChar char="Ø"/>
            </a:pPr>
            <a:r>
              <a:rPr lang="en-US" sz="2000" dirty="0"/>
              <a:t> A broader review of educational technology impacts, including visualization components, found that tech tools using analytics and visual feedback often correlate with improved student engagement and outcomes.</a:t>
            </a:r>
            <a:endParaRPr lang="en-IN" sz="2000" dirty="0"/>
          </a:p>
        </p:txBody>
      </p:sp>
    </p:spTree>
    <p:extLst>
      <p:ext uri="{BB962C8B-B14F-4D97-AF65-F5344CB8AC3E}">
        <p14:creationId xmlns:p14="http://schemas.microsoft.com/office/powerpoint/2010/main" val="3878385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4DDB18A-244C-59C7-EFD0-C42D22C95007}"/>
              </a:ext>
            </a:extLst>
          </p:cNvPr>
          <p:cNvSpPr txBox="1"/>
          <p:nvPr/>
        </p:nvSpPr>
        <p:spPr>
          <a:xfrm>
            <a:off x="1828800" y="189406"/>
            <a:ext cx="8341303" cy="830997"/>
          </a:xfrm>
          <a:prstGeom prst="rect">
            <a:avLst/>
          </a:prstGeom>
          <a:noFill/>
        </p:spPr>
        <p:txBody>
          <a:bodyPr wrap="square">
            <a:spAutoFit/>
          </a:bodyPr>
          <a:lstStyle/>
          <a:p>
            <a:pPr algn="ctr"/>
            <a:r>
              <a:rPr lang="en-IN" sz="4800" b="1" dirty="0">
                <a:latin typeface="Times New Roman" panose="02020603050405020304" pitchFamily="18" charset="0"/>
                <a:cs typeface="Times New Roman" panose="02020603050405020304" pitchFamily="18" charset="0"/>
              </a:rPr>
              <a:t>System Design / Architecture</a:t>
            </a:r>
          </a:p>
        </p:txBody>
      </p:sp>
      <p:pic>
        <p:nvPicPr>
          <p:cNvPr id="2" name="Picture 1">
            <a:extLst>
              <a:ext uri="{FF2B5EF4-FFF2-40B4-BE49-F238E27FC236}">
                <a16:creationId xmlns:a16="http://schemas.microsoft.com/office/drawing/2014/main" id="{ACA2096C-FF87-171E-A4F8-86B201D93775}"/>
              </a:ext>
            </a:extLst>
          </p:cNvPr>
          <p:cNvPicPr/>
          <p:nvPr/>
        </p:nvPicPr>
        <p:blipFill>
          <a:blip r:embed="rId2" cstate="print">
            <a:extLst>
              <a:ext uri="{28A0092B-C50C-407E-A947-70E740481C1C}">
                <a14:useLocalDpi xmlns:a14="http://schemas.microsoft.com/office/drawing/2010/main" val="0"/>
              </a:ext>
            </a:extLst>
          </a:blip>
          <a:srcRect/>
          <a:stretch>
            <a:fillRect/>
          </a:stretch>
        </p:blipFill>
        <p:spPr>
          <a:xfrm>
            <a:off x="243052" y="139671"/>
            <a:ext cx="1135117" cy="1138411"/>
          </a:xfrm>
          <a:prstGeom prst="rect">
            <a:avLst/>
          </a:prstGeom>
          <a:noFill/>
        </p:spPr>
      </p:pic>
      <p:pic>
        <p:nvPicPr>
          <p:cNvPr id="3" name="Picture 2">
            <a:extLst>
              <a:ext uri="{FF2B5EF4-FFF2-40B4-BE49-F238E27FC236}">
                <a16:creationId xmlns:a16="http://schemas.microsoft.com/office/drawing/2014/main" id="{4BEA3E44-916D-AE29-C23A-BFE9918B3535}"/>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0514231" y="191626"/>
            <a:ext cx="1520114" cy="1138411"/>
          </a:xfrm>
          <a:prstGeom prst="rect">
            <a:avLst/>
          </a:prstGeom>
          <a:noFill/>
          <a:ln>
            <a:noFill/>
          </a:ln>
        </p:spPr>
      </p:pic>
      <p:pic>
        <p:nvPicPr>
          <p:cNvPr id="8" name="Picture 7">
            <a:extLst>
              <a:ext uri="{FF2B5EF4-FFF2-40B4-BE49-F238E27FC236}">
                <a16:creationId xmlns:a16="http://schemas.microsoft.com/office/drawing/2014/main" id="{2B9E1557-EF9E-64B4-EB46-B935EF19813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13464" y="1143000"/>
            <a:ext cx="4374572" cy="5714999"/>
          </a:xfrm>
          <a:prstGeom prst="rect">
            <a:avLst/>
          </a:prstGeom>
        </p:spPr>
      </p:pic>
    </p:spTree>
    <p:extLst>
      <p:ext uri="{BB962C8B-B14F-4D97-AF65-F5344CB8AC3E}">
        <p14:creationId xmlns:p14="http://schemas.microsoft.com/office/powerpoint/2010/main" val="30011401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F00B882-58CD-8B16-4D8B-2507553EA05B}"/>
              </a:ext>
            </a:extLst>
          </p:cNvPr>
          <p:cNvPicPr/>
          <p:nvPr/>
        </p:nvPicPr>
        <p:blipFill>
          <a:blip r:embed="rId3" cstate="print">
            <a:extLst>
              <a:ext uri="{28A0092B-C50C-407E-A947-70E740481C1C}">
                <a14:useLocalDpi xmlns:a14="http://schemas.microsoft.com/office/drawing/2010/main" val="0"/>
              </a:ext>
            </a:extLst>
          </a:blip>
          <a:srcRect/>
          <a:stretch>
            <a:fillRect/>
          </a:stretch>
        </p:blipFill>
        <p:spPr>
          <a:xfrm>
            <a:off x="243052" y="139671"/>
            <a:ext cx="1135117" cy="1138411"/>
          </a:xfrm>
          <a:prstGeom prst="rect">
            <a:avLst/>
          </a:prstGeom>
          <a:noFill/>
        </p:spPr>
      </p:pic>
      <p:pic>
        <p:nvPicPr>
          <p:cNvPr id="5" name="Picture 4">
            <a:extLst>
              <a:ext uri="{FF2B5EF4-FFF2-40B4-BE49-F238E27FC236}">
                <a16:creationId xmlns:a16="http://schemas.microsoft.com/office/drawing/2014/main" id="{8D096FF7-69B5-F1E2-AB59-69B689DC369A}"/>
              </a:ext>
            </a:extLst>
          </p:cNvPr>
          <p:cNvPicPr/>
          <p:nvPr/>
        </p:nvPicPr>
        <p:blipFill>
          <a:blip r:embed="rId4">
            <a:extLst>
              <a:ext uri="{28A0092B-C50C-407E-A947-70E740481C1C}">
                <a14:useLocalDpi xmlns:a14="http://schemas.microsoft.com/office/drawing/2010/main" val="0"/>
              </a:ext>
            </a:extLst>
          </a:blip>
          <a:srcRect/>
          <a:stretch>
            <a:fillRect/>
          </a:stretch>
        </p:blipFill>
        <p:spPr bwMode="auto">
          <a:xfrm>
            <a:off x="10514231" y="191626"/>
            <a:ext cx="1520114" cy="1138411"/>
          </a:xfrm>
          <a:prstGeom prst="rect">
            <a:avLst/>
          </a:prstGeom>
          <a:noFill/>
          <a:ln>
            <a:noFill/>
          </a:ln>
        </p:spPr>
      </p:pic>
      <p:sp>
        <p:nvSpPr>
          <p:cNvPr id="3" name="TextBox 2">
            <a:extLst>
              <a:ext uri="{FF2B5EF4-FFF2-40B4-BE49-F238E27FC236}">
                <a16:creationId xmlns:a16="http://schemas.microsoft.com/office/drawing/2014/main" id="{9EEB101C-BC2D-5832-36B4-EC3562E5348A}"/>
              </a:ext>
            </a:extLst>
          </p:cNvPr>
          <p:cNvSpPr txBox="1"/>
          <p:nvPr/>
        </p:nvSpPr>
        <p:spPr>
          <a:xfrm>
            <a:off x="2337954" y="139671"/>
            <a:ext cx="7242464" cy="1323439"/>
          </a:xfrm>
          <a:prstGeom prst="rect">
            <a:avLst/>
          </a:prstGeom>
          <a:noFill/>
        </p:spPr>
        <p:txBody>
          <a:bodyPr wrap="square">
            <a:spAutoFit/>
          </a:bodyPr>
          <a:lstStyle/>
          <a:p>
            <a:r>
              <a:rPr lang="en-IN" sz="4000" b="1" dirty="0">
                <a:latin typeface="Times New Roman" panose="02020603050405020304" pitchFamily="18" charset="0"/>
                <a:cs typeface="Times New Roman" panose="02020603050405020304" pitchFamily="18" charset="0"/>
              </a:rPr>
              <a:t>Module 1: Student Academic Performance Analysis</a:t>
            </a:r>
          </a:p>
        </p:txBody>
      </p:sp>
      <p:sp>
        <p:nvSpPr>
          <p:cNvPr id="6" name="TextBox 5">
            <a:extLst>
              <a:ext uri="{FF2B5EF4-FFF2-40B4-BE49-F238E27FC236}">
                <a16:creationId xmlns:a16="http://schemas.microsoft.com/office/drawing/2014/main" id="{D97AD611-C813-8DA8-6972-F219CEAC0248}"/>
              </a:ext>
            </a:extLst>
          </p:cNvPr>
          <p:cNvSpPr txBox="1"/>
          <p:nvPr/>
        </p:nvSpPr>
        <p:spPr>
          <a:xfrm>
            <a:off x="1951579" y="2007183"/>
            <a:ext cx="8015213" cy="3349956"/>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Collects and analyzes student marks and grades</a:t>
            </a:r>
          </a:p>
          <a:p>
            <a:pPr marL="285750" indent="-28575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 Compares performance across subjects and semesters</a:t>
            </a:r>
          </a:p>
          <a:p>
            <a:pPr marL="285750" indent="-28575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 Identifies high and low performing students</a:t>
            </a:r>
          </a:p>
          <a:p>
            <a:pPr marL="285750" indent="-28575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Finds strengths and weak areas in academics</a:t>
            </a:r>
          </a:p>
          <a:p>
            <a:pPr marL="285750" indent="-28575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 Visualizes results using charts and graphs for easy understanding</a:t>
            </a:r>
          </a:p>
        </p:txBody>
      </p:sp>
    </p:spTree>
    <p:extLst>
      <p:ext uri="{BB962C8B-B14F-4D97-AF65-F5344CB8AC3E}">
        <p14:creationId xmlns:p14="http://schemas.microsoft.com/office/powerpoint/2010/main" val="37177009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C97FD38-AF9B-D6CF-DD3D-2CFAA48FB0B7}"/>
              </a:ext>
            </a:extLst>
          </p:cNvPr>
          <p:cNvPicPr/>
          <p:nvPr/>
        </p:nvPicPr>
        <p:blipFill>
          <a:blip r:embed="rId2" cstate="print">
            <a:extLst>
              <a:ext uri="{28A0092B-C50C-407E-A947-70E740481C1C}">
                <a14:useLocalDpi xmlns:a14="http://schemas.microsoft.com/office/drawing/2010/main" val="0"/>
              </a:ext>
            </a:extLst>
          </a:blip>
          <a:srcRect/>
          <a:stretch>
            <a:fillRect/>
          </a:stretch>
        </p:blipFill>
        <p:spPr>
          <a:xfrm>
            <a:off x="243052" y="139671"/>
            <a:ext cx="1135117" cy="1138411"/>
          </a:xfrm>
          <a:prstGeom prst="rect">
            <a:avLst/>
          </a:prstGeom>
          <a:noFill/>
        </p:spPr>
      </p:pic>
      <p:pic>
        <p:nvPicPr>
          <p:cNvPr id="6" name="Picture 5">
            <a:extLst>
              <a:ext uri="{FF2B5EF4-FFF2-40B4-BE49-F238E27FC236}">
                <a16:creationId xmlns:a16="http://schemas.microsoft.com/office/drawing/2014/main" id="{3FA4D2D2-DDCC-2B83-163C-B3959AEEA51B}"/>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0514231" y="191626"/>
            <a:ext cx="1520114" cy="1138411"/>
          </a:xfrm>
          <a:prstGeom prst="rect">
            <a:avLst/>
          </a:prstGeom>
          <a:noFill/>
          <a:ln>
            <a:noFill/>
          </a:ln>
        </p:spPr>
      </p:pic>
      <p:sp>
        <p:nvSpPr>
          <p:cNvPr id="8" name="TextBox 7">
            <a:extLst>
              <a:ext uri="{FF2B5EF4-FFF2-40B4-BE49-F238E27FC236}">
                <a16:creationId xmlns:a16="http://schemas.microsoft.com/office/drawing/2014/main" id="{CC32E03C-E547-FB92-4A05-6C293F6C4B7B}"/>
              </a:ext>
            </a:extLst>
          </p:cNvPr>
          <p:cNvSpPr txBox="1"/>
          <p:nvPr/>
        </p:nvSpPr>
        <p:spPr>
          <a:xfrm>
            <a:off x="3161434" y="354933"/>
            <a:ext cx="6094268" cy="707886"/>
          </a:xfrm>
          <a:prstGeom prst="rect">
            <a:avLst/>
          </a:prstGeom>
          <a:noFill/>
        </p:spPr>
        <p:txBody>
          <a:bodyPr wrap="square">
            <a:spAutoFit/>
          </a:bodyPr>
          <a:lstStyle/>
          <a:p>
            <a:r>
              <a:rPr lang="en-US" sz="4000" b="1" dirty="0">
                <a:latin typeface="Times New Roman" panose="02020603050405020304" pitchFamily="18" charset="0"/>
                <a:cs typeface="Times New Roman" panose="02020603050405020304" pitchFamily="18" charset="0"/>
              </a:rPr>
              <a:t>MODULE-1 : Outcome</a:t>
            </a:r>
            <a:endParaRPr lang="en-IN" sz="4000" b="1"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C3CA65C4-95D8-88B7-C8BC-FBC0C3EB7646}"/>
              </a:ext>
            </a:extLst>
          </p:cNvPr>
          <p:cNvSpPr txBox="1"/>
          <p:nvPr/>
        </p:nvSpPr>
        <p:spPr>
          <a:xfrm>
            <a:off x="1929245" y="1969947"/>
            <a:ext cx="8333509" cy="3349956"/>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Clear understanding of each student’s academic performance</a:t>
            </a:r>
          </a:p>
          <a:p>
            <a:pPr marL="34290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 Identification of strengths and areas needing improvement</a:t>
            </a:r>
          </a:p>
          <a:p>
            <a:pPr marL="34290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 Comparison of student performance across subjects and semesters</a:t>
            </a:r>
          </a:p>
          <a:p>
            <a:pPr marL="34290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 Early detection of low-performing students</a:t>
            </a:r>
          </a:p>
          <a:p>
            <a:pPr marL="34290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Improved academic decision-making using visual insights</a:t>
            </a:r>
          </a:p>
        </p:txBody>
      </p:sp>
    </p:spTree>
    <p:extLst>
      <p:ext uri="{BB962C8B-B14F-4D97-AF65-F5344CB8AC3E}">
        <p14:creationId xmlns:p14="http://schemas.microsoft.com/office/powerpoint/2010/main" val="27204649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1FB0A34-FE6D-7F86-BA85-09513C83C2E5}"/>
              </a:ext>
            </a:extLst>
          </p:cNvPr>
          <p:cNvPicPr/>
          <p:nvPr/>
        </p:nvPicPr>
        <p:blipFill>
          <a:blip r:embed="rId3" cstate="print">
            <a:extLst>
              <a:ext uri="{28A0092B-C50C-407E-A947-70E740481C1C}">
                <a14:useLocalDpi xmlns:a14="http://schemas.microsoft.com/office/drawing/2010/main" val="0"/>
              </a:ext>
            </a:extLst>
          </a:blip>
          <a:srcRect/>
          <a:stretch>
            <a:fillRect/>
          </a:stretch>
        </p:blipFill>
        <p:spPr>
          <a:xfrm>
            <a:off x="243052" y="139671"/>
            <a:ext cx="1135117" cy="1138411"/>
          </a:xfrm>
          <a:prstGeom prst="rect">
            <a:avLst/>
          </a:prstGeom>
          <a:noFill/>
        </p:spPr>
      </p:pic>
      <p:pic>
        <p:nvPicPr>
          <p:cNvPr id="5" name="Picture 4">
            <a:extLst>
              <a:ext uri="{FF2B5EF4-FFF2-40B4-BE49-F238E27FC236}">
                <a16:creationId xmlns:a16="http://schemas.microsoft.com/office/drawing/2014/main" id="{048EDD27-8EE0-E3F1-8376-FEB1CB5E59E1}"/>
              </a:ext>
            </a:extLst>
          </p:cNvPr>
          <p:cNvPicPr/>
          <p:nvPr/>
        </p:nvPicPr>
        <p:blipFill>
          <a:blip r:embed="rId4">
            <a:extLst>
              <a:ext uri="{28A0092B-C50C-407E-A947-70E740481C1C}">
                <a14:useLocalDpi xmlns:a14="http://schemas.microsoft.com/office/drawing/2010/main" val="0"/>
              </a:ext>
            </a:extLst>
          </a:blip>
          <a:srcRect/>
          <a:stretch>
            <a:fillRect/>
          </a:stretch>
        </p:blipFill>
        <p:spPr bwMode="auto">
          <a:xfrm>
            <a:off x="10514231" y="191626"/>
            <a:ext cx="1520114" cy="1138411"/>
          </a:xfrm>
          <a:prstGeom prst="rect">
            <a:avLst/>
          </a:prstGeom>
          <a:noFill/>
          <a:ln>
            <a:noFill/>
          </a:ln>
        </p:spPr>
      </p:pic>
      <p:sp>
        <p:nvSpPr>
          <p:cNvPr id="3" name="TextBox 2">
            <a:extLst>
              <a:ext uri="{FF2B5EF4-FFF2-40B4-BE49-F238E27FC236}">
                <a16:creationId xmlns:a16="http://schemas.microsoft.com/office/drawing/2014/main" id="{5B4AE59B-DC25-FDF8-0F7D-8A161D8DAB5B}"/>
              </a:ext>
            </a:extLst>
          </p:cNvPr>
          <p:cNvSpPr txBox="1"/>
          <p:nvPr/>
        </p:nvSpPr>
        <p:spPr>
          <a:xfrm>
            <a:off x="2078181" y="191626"/>
            <a:ext cx="8529568" cy="1323439"/>
          </a:xfrm>
          <a:prstGeom prst="rect">
            <a:avLst/>
          </a:prstGeom>
          <a:noFill/>
        </p:spPr>
        <p:txBody>
          <a:bodyPr wrap="square">
            <a:spAutoFit/>
          </a:bodyPr>
          <a:lstStyle/>
          <a:p>
            <a:r>
              <a:rPr lang="en-IN" sz="4000" b="1" dirty="0">
                <a:latin typeface="Times New Roman" panose="02020603050405020304" pitchFamily="18" charset="0"/>
                <a:cs typeface="Times New Roman" panose="02020603050405020304" pitchFamily="18" charset="0"/>
              </a:rPr>
              <a:t>Module 2 - Student Behavior &amp; Attendance Impact on Performance</a:t>
            </a:r>
          </a:p>
        </p:txBody>
      </p:sp>
      <p:sp>
        <p:nvSpPr>
          <p:cNvPr id="6" name="TextBox 5">
            <a:extLst>
              <a:ext uri="{FF2B5EF4-FFF2-40B4-BE49-F238E27FC236}">
                <a16:creationId xmlns:a16="http://schemas.microsoft.com/office/drawing/2014/main" id="{87FC692A-8881-2043-2E3C-C54B5DE62D6C}"/>
              </a:ext>
            </a:extLst>
          </p:cNvPr>
          <p:cNvSpPr txBox="1"/>
          <p:nvPr/>
        </p:nvSpPr>
        <p:spPr>
          <a:xfrm>
            <a:off x="1778577" y="1808018"/>
            <a:ext cx="8634846" cy="3903954"/>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Collects data on student attendance and behavioral records</a:t>
            </a:r>
          </a:p>
          <a:p>
            <a:pPr marL="34290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Analyzes the relationship between attendance and academic performance</a:t>
            </a:r>
          </a:p>
          <a:p>
            <a:pPr marL="34290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Studies the impact of student behavior on overall performance</a:t>
            </a:r>
          </a:p>
          <a:p>
            <a:pPr marL="34290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Identifies students at risk due to poor attendance or behavior</a:t>
            </a:r>
          </a:p>
          <a:p>
            <a:pPr marL="34290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Visualizes attendance, behavior, and performance trends using charts and graphs</a:t>
            </a:r>
          </a:p>
        </p:txBody>
      </p:sp>
    </p:spTree>
    <p:extLst>
      <p:ext uri="{BB962C8B-B14F-4D97-AF65-F5344CB8AC3E}">
        <p14:creationId xmlns:p14="http://schemas.microsoft.com/office/powerpoint/2010/main" val="16964642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D288F6B-ACAB-85EF-52CC-CFBC79127467}"/>
              </a:ext>
            </a:extLst>
          </p:cNvPr>
          <p:cNvPicPr/>
          <p:nvPr/>
        </p:nvPicPr>
        <p:blipFill>
          <a:blip r:embed="rId2" cstate="print">
            <a:extLst>
              <a:ext uri="{28A0092B-C50C-407E-A947-70E740481C1C}">
                <a14:useLocalDpi xmlns:a14="http://schemas.microsoft.com/office/drawing/2010/main" val="0"/>
              </a:ext>
            </a:extLst>
          </a:blip>
          <a:srcRect/>
          <a:stretch>
            <a:fillRect/>
          </a:stretch>
        </p:blipFill>
        <p:spPr>
          <a:xfrm>
            <a:off x="243052" y="139671"/>
            <a:ext cx="1135117" cy="1138411"/>
          </a:xfrm>
          <a:prstGeom prst="rect">
            <a:avLst/>
          </a:prstGeom>
          <a:noFill/>
        </p:spPr>
      </p:pic>
      <p:pic>
        <p:nvPicPr>
          <p:cNvPr id="5" name="Picture 4">
            <a:extLst>
              <a:ext uri="{FF2B5EF4-FFF2-40B4-BE49-F238E27FC236}">
                <a16:creationId xmlns:a16="http://schemas.microsoft.com/office/drawing/2014/main" id="{1BEEE679-63B9-71DE-C201-0863DDA3D83B}"/>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0514231" y="191626"/>
            <a:ext cx="1520114" cy="1138411"/>
          </a:xfrm>
          <a:prstGeom prst="rect">
            <a:avLst/>
          </a:prstGeom>
          <a:noFill/>
          <a:ln>
            <a:noFill/>
          </a:ln>
        </p:spPr>
      </p:pic>
      <p:sp>
        <p:nvSpPr>
          <p:cNvPr id="3" name="TextBox 2">
            <a:extLst>
              <a:ext uri="{FF2B5EF4-FFF2-40B4-BE49-F238E27FC236}">
                <a16:creationId xmlns:a16="http://schemas.microsoft.com/office/drawing/2014/main" id="{0B627E4E-9A36-0D8D-AC7A-2D286E3DC6D0}"/>
              </a:ext>
            </a:extLst>
          </p:cNvPr>
          <p:cNvSpPr txBox="1"/>
          <p:nvPr/>
        </p:nvSpPr>
        <p:spPr>
          <a:xfrm>
            <a:off x="2778701" y="406888"/>
            <a:ext cx="6094268" cy="707886"/>
          </a:xfrm>
          <a:prstGeom prst="rect">
            <a:avLst/>
          </a:prstGeom>
          <a:noFill/>
        </p:spPr>
        <p:txBody>
          <a:bodyPr wrap="square">
            <a:spAutoFit/>
          </a:bodyPr>
          <a:lstStyle/>
          <a:p>
            <a:pPr algn="ctr"/>
            <a:r>
              <a:rPr lang="en-US" sz="4000" b="1" dirty="0">
                <a:latin typeface="Times New Roman" panose="02020603050405020304" pitchFamily="18" charset="0"/>
                <a:cs typeface="Times New Roman" panose="02020603050405020304" pitchFamily="18" charset="0"/>
              </a:rPr>
              <a:t>MODULE-2 : Outcome</a:t>
            </a:r>
            <a:endParaRPr lang="en-IN" sz="4000" b="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3F2D461B-6658-8F5A-2399-B88F6676E14B}"/>
              </a:ext>
            </a:extLst>
          </p:cNvPr>
          <p:cNvSpPr txBox="1"/>
          <p:nvPr/>
        </p:nvSpPr>
        <p:spPr>
          <a:xfrm>
            <a:off x="2074718" y="1818409"/>
            <a:ext cx="8042564" cy="3903954"/>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 clear insight into how attendance affects academic performance</a:t>
            </a:r>
          </a:p>
          <a:p>
            <a:pPr marL="34290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Understanding the influence of student behavior on results Early identification of students at risk due to low attendance or behavior issues</a:t>
            </a:r>
          </a:p>
          <a:p>
            <a:pPr marL="34290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Improved monitoring of student engagement and discipline Better decision-making for interventions and student support</a:t>
            </a:r>
          </a:p>
        </p:txBody>
      </p:sp>
    </p:spTree>
    <p:extLst>
      <p:ext uri="{BB962C8B-B14F-4D97-AF65-F5344CB8AC3E}">
        <p14:creationId xmlns:p14="http://schemas.microsoft.com/office/powerpoint/2010/main" val="7717281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58ECFD-0407-BAD6-5514-80B8A8B3A997}"/>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F5778024-CD2C-C12B-6656-AE88379C5CE8}"/>
              </a:ext>
            </a:extLst>
          </p:cNvPr>
          <p:cNvPicPr/>
          <p:nvPr/>
        </p:nvPicPr>
        <p:blipFill>
          <a:blip r:embed="rId2" cstate="print">
            <a:extLst>
              <a:ext uri="{28A0092B-C50C-407E-A947-70E740481C1C}">
                <a14:useLocalDpi xmlns:a14="http://schemas.microsoft.com/office/drawing/2010/main" val="0"/>
              </a:ext>
            </a:extLst>
          </a:blip>
          <a:srcRect/>
          <a:stretch>
            <a:fillRect/>
          </a:stretch>
        </p:blipFill>
        <p:spPr>
          <a:xfrm>
            <a:off x="243052" y="139671"/>
            <a:ext cx="1135117" cy="1138411"/>
          </a:xfrm>
          <a:prstGeom prst="rect">
            <a:avLst/>
          </a:prstGeom>
          <a:noFill/>
        </p:spPr>
      </p:pic>
      <p:pic>
        <p:nvPicPr>
          <p:cNvPr id="3" name="Picture 2">
            <a:extLst>
              <a:ext uri="{FF2B5EF4-FFF2-40B4-BE49-F238E27FC236}">
                <a16:creationId xmlns:a16="http://schemas.microsoft.com/office/drawing/2014/main" id="{9E8A7B97-B144-E64A-5A97-2D9B4983FE6A}"/>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0514231" y="191626"/>
            <a:ext cx="1520114" cy="1138411"/>
          </a:xfrm>
          <a:prstGeom prst="rect">
            <a:avLst/>
          </a:prstGeom>
          <a:noFill/>
          <a:ln>
            <a:noFill/>
          </a:ln>
        </p:spPr>
      </p:pic>
      <p:sp>
        <p:nvSpPr>
          <p:cNvPr id="5" name="TextBox 4">
            <a:extLst>
              <a:ext uri="{FF2B5EF4-FFF2-40B4-BE49-F238E27FC236}">
                <a16:creationId xmlns:a16="http://schemas.microsoft.com/office/drawing/2014/main" id="{F0BA9612-1D22-88FA-ED6F-5C2F9714CF2E}"/>
              </a:ext>
            </a:extLst>
          </p:cNvPr>
          <p:cNvSpPr txBox="1"/>
          <p:nvPr/>
        </p:nvSpPr>
        <p:spPr>
          <a:xfrm>
            <a:off x="3805670" y="345332"/>
            <a:ext cx="6094268" cy="830997"/>
          </a:xfrm>
          <a:prstGeom prst="rect">
            <a:avLst/>
          </a:prstGeom>
          <a:noFill/>
        </p:spPr>
        <p:txBody>
          <a:bodyPr wrap="square">
            <a:spAutoFit/>
          </a:bodyPr>
          <a:lstStyle/>
          <a:p>
            <a:r>
              <a:rPr lang="en-IN" sz="4800" b="1" dirty="0">
                <a:latin typeface="Times New Roman" panose="02020603050405020304" pitchFamily="18" charset="0"/>
                <a:cs typeface="Times New Roman" panose="02020603050405020304" pitchFamily="18" charset="0"/>
              </a:rPr>
              <a:t>  Methodology</a:t>
            </a:r>
          </a:p>
        </p:txBody>
      </p:sp>
      <p:sp>
        <p:nvSpPr>
          <p:cNvPr id="7" name="TextBox 6">
            <a:extLst>
              <a:ext uri="{FF2B5EF4-FFF2-40B4-BE49-F238E27FC236}">
                <a16:creationId xmlns:a16="http://schemas.microsoft.com/office/drawing/2014/main" id="{56449A1B-0279-77A8-D04E-A4EF6CAA65D1}"/>
              </a:ext>
            </a:extLst>
          </p:cNvPr>
          <p:cNvSpPr txBox="1"/>
          <p:nvPr/>
        </p:nvSpPr>
        <p:spPr>
          <a:xfrm>
            <a:off x="1236518" y="1828029"/>
            <a:ext cx="9642764" cy="3903954"/>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Collect student data such as marks, attendance, behavior, and assessment scores.</a:t>
            </a:r>
          </a:p>
          <a:p>
            <a:pPr marL="34290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Clean and preprocess the data by handling missing values and errors.</a:t>
            </a:r>
          </a:p>
          <a:p>
            <a:pPr marL="34290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Organize and integrate data from different sources into a single dataset.</a:t>
            </a:r>
          </a:p>
          <a:p>
            <a:pPr marL="34290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Perform basic statistical analysis to understand performance patterns.</a:t>
            </a:r>
          </a:p>
          <a:p>
            <a:pPr marL="34290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Create visualizations (bar charts, line graphs, box plots, scatter plots).</a:t>
            </a:r>
          </a:p>
          <a:p>
            <a:pPr marL="342900" indent="-342900" algn="just">
              <a:lnSpc>
                <a:spcPct val="150000"/>
              </a:lnSpc>
              <a:buFont typeface="Arial" panose="020B0604020202020204" pitchFamily="34" charset="0"/>
              <a:buChar char="•"/>
            </a:pPr>
            <a:r>
              <a:rPr lang="en-IN" sz="2400" dirty="0" err="1">
                <a:latin typeface="Times New Roman" panose="02020603050405020304" pitchFamily="18" charset="0"/>
                <a:cs typeface="Times New Roman" panose="02020603050405020304" pitchFamily="18" charset="0"/>
              </a:rPr>
              <a:t>Analyze</a:t>
            </a:r>
            <a:r>
              <a:rPr lang="en-IN" sz="2400" dirty="0">
                <a:latin typeface="Times New Roman" panose="02020603050405020304" pitchFamily="18" charset="0"/>
                <a:cs typeface="Times New Roman" panose="02020603050405020304" pitchFamily="18" charset="0"/>
              </a:rPr>
              <a:t> trends, comparisons, and relationships in the visualized data</a:t>
            </a:r>
          </a:p>
        </p:txBody>
      </p:sp>
    </p:spTree>
    <p:extLst>
      <p:ext uri="{BB962C8B-B14F-4D97-AF65-F5344CB8AC3E}">
        <p14:creationId xmlns:p14="http://schemas.microsoft.com/office/powerpoint/2010/main" val="3693634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306048C-9A04-62EF-9234-2E7F1915E0E1}"/>
              </a:ext>
            </a:extLst>
          </p:cNvPr>
          <p:cNvPicPr/>
          <p:nvPr/>
        </p:nvPicPr>
        <p:blipFill>
          <a:blip r:embed="rId2" cstate="print">
            <a:extLst>
              <a:ext uri="{28A0092B-C50C-407E-A947-70E740481C1C}">
                <a14:useLocalDpi xmlns:a14="http://schemas.microsoft.com/office/drawing/2010/main" val="0"/>
              </a:ext>
            </a:extLst>
          </a:blip>
          <a:srcRect/>
          <a:stretch>
            <a:fillRect/>
          </a:stretch>
        </p:blipFill>
        <p:spPr>
          <a:xfrm>
            <a:off x="243052" y="139671"/>
            <a:ext cx="1135117" cy="1138411"/>
          </a:xfrm>
          <a:prstGeom prst="rect">
            <a:avLst/>
          </a:prstGeom>
          <a:noFill/>
        </p:spPr>
      </p:pic>
      <p:pic>
        <p:nvPicPr>
          <p:cNvPr id="5" name="Picture 4">
            <a:extLst>
              <a:ext uri="{FF2B5EF4-FFF2-40B4-BE49-F238E27FC236}">
                <a16:creationId xmlns:a16="http://schemas.microsoft.com/office/drawing/2014/main" id="{6CA1973D-7E0F-8DBF-E5D4-EA7D31416523}"/>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0514231" y="191626"/>
            <a:ext cx="1520114" cy="1138411"/>
          </a:xfrm>
          <a:prstGeom prst="rect">
            <a:avLst/>
          </a:prstGeom>
          <a:noFill/>
          <a:ln>
            <a:noFill/>
          </a:ln>
        </p:spPr>
      </p:pic>
      <p:sp>
        <p:nvSpPr>
          <p:cNvPr id="8" name="TextBox 7">
            <a:extLst>
              <a:ext uri="{FF2B5EF4-FFF2-40B4-BE49-F238E27FC236}">
                <a16:creationId xmlns:a16="http://schemas.microsoft.com/office/drawing/2014/main" id="{35AE753D-0E0C-192E-D4E7-C291AF078C67}"/>
              </a:ext>
            </a:extLst>
          </p:cNvPr>
          <p:cNvSpPr txBox="1"/>
          <p:nvPr/>
        </p:nvSpPr>
        <p:spPr>
          <a:xfrm>
            <a:off x="3048866" y="345332"/>
            <a:ext cx="6094268" cy="830997"/>
          </a:xfrm>
          <a:prstGeom prst="rect">
            <a:avLst/>
          </a:prstGeom>
          <a:noFill/>
        </p:spPr>
        <p:txBody>
          <a:bodyPr wrap="square">
            <a:spAutoFit/>
          </a:bodyPr>
          <a:lstStyle/>
          <a:p>
            <a:pPr algn="ctr"/>
            <a:r>
              <a:rPr lang="en-IN" sz="4800" b="1" dirty="0">
                <a:latin typeface="Times New Roman" panose="02020603050405020304" pitchFamily="18" charset="0"/>
                <a:cs typeface="Times New Roman" panose="02020603050405020304" pitchFamily="18" charset="0"/>
              </a:rPr>
              <a:t>Implementation</a:t>
            </a:r>
          </a:p>
        </p:txBody>
      </p:sp>
      <p:pic>
        <p:nvPicPr>
          <p:cNvPr id="10" name="Picture 9">
            <a:extLst>
              <a:ext uri="{FF2B5EF4-FFF2-40B4-BE49-F238E27FC236}">
                <a16:creationId xmlns:a16="http://schemas.microsoft.com/office/drawing/2014/main" id="{2BFDE264-D4A3-BDF5-C526-04980F4B735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1330036"/>
            <a:ext cx="6096000" cy="5527963"/>
          </a:xfrm>
          <a:prstGeom prst="rect">
            <a:avLst/>
          </a:prstGeom>
        </p:spPr>
      </p:pic>
      <p:pic>
        <p:nvPicPr>
          <p:cNvPr id="12" name="Picture 11">
            <a:extLst>
              <a:ext uri="{FF2B5EF4-FFF2-40B4-BE49-F238E27FC236}">
                <a16:creationId xmlns:a16="http://schemas.microsoft.com/office/drawing/2014/main" id="{A31251B7-DE24-1B45-77D7-F57226A24FC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184937" y="1330036"/>
            <a:ext cx="6007063" cy="5527962"/>
          </a:xfrm>
          <a:prstGeom prst="rect">
            <a:avLst/>
          </a:prstGeom>
        </p:spPr>
      </p:pic>
    </p:spTree>
    <p:extLst>
      <p:ext uri="{BB962C8B-B14F-4D97-AF65-F5344CB8AC3E}">
        <p14:creationId xmlns:p14="http://schemas.microsoft.com/office/powerpoint/2010/main" val="21447502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367A0BD-76F5-C84F-C1F8-1D55D5E38DE8}"/>
              </a:ext>
            </a:extLst>
          </p:cNvPr>
          <p:cNvPicPr/>
          <p:nvPr/>
        </p:nvPicPr>
        <p:blipFill>
          <a:blip r:embed="rId2" cstate="print">
            <a:extLst>
              <a:ext uri="{28A0092B-C50C-407E-A947-70E740481C1C}">
                <a14:useLocalDpi xmlns:a14="http://schemas.microsoft.com/office/drawing/2010/main" val="0"/>
              </a:ext>
            </a:extLst>
          </a:blip>
          <a:srcRect/>
          <a:stretch>
            <a:fillRect/>
          </a:stretch>
        </p:blipFill>
        <p:spPr>
          <a:xfrm>
            <a:off x="243052" y="139671"/>
            <a:ext cx="1135117" cy="1138411"/>
          </a:xfrm>
          <a:prstGeom prst="rect">
            <a:avLst/>
          </a:prstGeom>
          <a:noFill/>
        </p:spPr>
      </p:pic>
      <p:pic>
        <p:nvPicPr>
          <p:cNvPr id="5" name="Picture 4">
            <a:extLst>
              <a:ext uri="{FF2B5EF4-FFF2-40B4-BE49-F238E27FC236}">
                <a16:creationId xmlns:a16="http://schemas.microsoft.com/office/drawing/2014/main" id="{269E05AE-5964-D46D-5809-7333A1581C6E}"/>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0514231" y="191626"/>
            <a:ext cx="1520114" cy="1138411"/>
          </a:xfrm>
          <a:prstGeom prst="rect">
            <a:avLst/>
          </a:prstGeom>
          <a:noFill/>
          <a:ln>
            <a:noFill/>
          </a:ln>
        </p:spPr>
      </p:pic>
      <p:sp>
        <p:nvSpPr>
          <p:cNvPr id="6" name="TextBox 5">
            <a:extLst>
              <a:ext uri="{FF2B5EF4-FFF2-40B4-BE49-F238E27FC236}">
                <a16:creationId xmlns:a16="http://schemas.microsoft.com/office/drawing/2014/main" id="{08E90911-9D92-1590-6B45-FAE08899BE3C}"/>
              </a:ext>
            </a:extLst>
          </p:cNvPr>
          <p:cNvSpPr txBox="1"/>
          <p:nvPr/>
        </p:nvSpPr>
        <p:spPr>
          <a:xfrm>
            <a:off x="4399943" y="345332"/>
            <a:ext cx="3092514" cy="830997"/>
          </a:xfrm>
          <a:prstGeom prst="rect">
            <a:avLst/>
          </a:prstGeom>
          <a:noFill/>
        </p:spPr>
        <p:txBody>
          <a:bodyPr wrap="none" rtlCol="0">
            <a:spAutoFit/>
          </a:bodyPr>
          <a:lstStyle/>
          <a:p>
            <a:pPr algn="ctr"/>
            <a:r>
              <a:rPr lang="en-IN" sz="4800" b="1" dirty="0">
                <a:latin typeface="Times New Roman" panose="02020603050405020304" pitchFamily="18" charset="0"/>
                <a:cs typeface="Times New Roman" panose="02020603050405020304" pitchFamily="18" charset="0"/>
              </a:rPr>
              <a:t>OUTPUTS</a:t>
            </a:r>
          </a:p>
        </p:txBody>
      </p:sp>
      <p:pic>
        <p:nvPicPr>
          <p:cNvPr id="8" name="Picture 7">
            <a:extLst>
              <a:ext uri="{FF2B5EF4-FFF2-40B4-BE49-F238E27FC236}">
                <a16:creationId xmlns:a16="http://schemas.microsoft.com/office/drawing/2014/main" id="{307D9459-F221-FFFD-9426-1227C09FB0D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4690" y="2454687"/>
            <a:ext cx="6307283" cy="4403313"/>
          </a:xfrm>
          <a:prstGeom prst="rect">
            <a:avLst/>
          </a:prstGeom>
        </p:spPr>
      </p:pic>
      <p:pic>
        <p:nvPicPr>
          <p:cNvPr id="12" name="Picture 11">
            <a:extLst>
              <a:ext uri="{FF2B5EF4-FFF2-40B4-BE49-F238E27FC236}">
                <a16:creationId xmlns:a16="http://schemas.microsoft.com/office/drawing/2014/main" id="{7189421E-5A5A-41CE-483C-6C46D76A31A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31974" y="1995054"/>
            <a:ext cx="5760026" cy="4790209"/>
          </a:xfrm>
          <a:prstGeom prst="rect">
            <a:avLst/>
          </a:prstGeom>
        </p:spPr>
      </p:pic>
      <p:sp>
        <p:nvSpPr>
          <p:cNvPr id="13" name="TextBox 12">
            <a:extLst>
              <a:ext uri="{FF2B5EF4-FFF2-40B4-BE49-F238E27FC236}">
                <a16:creationId xmlns:a16="http://schemas.microsoft.com/office/drawing/2014/main" id="{7EE66BC1-365F-A056-55F1-2D97F8F20E50}"/>
              </a:ext>
            </a:extLst>
          </p:cNvPr>
          <p:cNvSpPr txBox="1"/>
          <p:nvPr/>
        </p:nvSpPr>
        <p:spPr>
          <a:xfrm>
            <a:off x="52074" y="1691483"/>
            <a:ext cx="1749197" cy="461665"/>
          </a:xfrm>
          <a:prstGeom prst="rect">
            <a:avLst/>
          </a:prstGeom>
          <a:noFill/>
        </p:spPr>
        <p:txBody>
          <a:bodyPr wrap="none" rtlCol="0">
            <a:spAutoFit/>
          </a:bodyPr>
          <a:lstStyle/>
          <a:p>
            <a:r>
              <a:rPr lang="en-IN" sz="2400" b="1" dirty="0">
                <a:latin typeface="Times New Roman" panose="02020603050405020304" pitchFamily="18" charset="0"/>
                <a:cs typeface="Times New Roman" panose="02020603050405020304" pitchFamily="18" charset="0"/>
              </a:rPr>
              <a:t>BAR PLOT</a:t>
            </a:r>
          </a:p>
        </p:txBody>
      </p:sp>
      <p:sp>
        <p:nvSpPr>
          <p:cNvPr id="14" name="TextBox 13">
            <a:extLst>
              <a:ext uri="{FF2B5EF4-FFF2-40B4-BE49-F238E27FC236}">
                <a16:creationId xmlns:a16="http://schemas.microsoft.com/office/drawing/2014/main" id="{33150C08-89C9-C579-508B-58692BDECBA8}"/>
              </a:ext>
            </a:extLst>
          </p:cNvPr>
          <p:cNvSpPr txBox="1"/>
          <p:nvPr/>
        </p:nvSpPr>
        <p:spPr>
          <a:xfrm>
            <a:off x="6968836" y="1691484"/>
            <a:ext cx="2531078" cy="461665"/>
          </a:xfrm>
          <a:prstGeom prst="rect">
            <a:avLst/>
          </a:prstGeom>
          <a:noFill/>
        </p:spPr>
        <p:txBody>
          <a:bodyPr wrap="none" rtlCol="0">
            <a:spAutoFit/>
          </a:bodyPr>
          <a:lstStyle/>
          <a:p>
            <a:r>
              <a:rPr lang="en-IN" sz="2400" b="1" dirty="0">
                <a:latin typeface="Times New Roman" panose="02020603050405020304" pitchFamily="18" charset="0"/>
                <a:cs typeface="Times New Roman" panose="02020603050405020304" pitchFamily="18" charset="0"/>
              </a:rPr>
              <a:t>SCATTER PLOT</a:t>
            </a:r>
          </a:p>
        </p:txBody>
      </p:sp>
    </p:spTree>
    <p:extLst>
      <p:ext uri="{BB962C8B-B14F-4D97-AF65-F5344CB8AC3E}">
        <p14:creationId xmlns:p14="http://schemas.microsoft.com/office/powerpoint/2010/main" val="6352790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DDA36E9-2DCE-1B42-6ED3-0DC8D40DD490}"/>
              </a:ext>
            </a:extLst>
          </p:cNvPr>
          <p:cNvPicPr/>
          <p:nvPr/>
        </p:nvPicPr>
        <p:blipFill>
          <a:blip r:embed="rId2" cstate="print">
            <a:extLst>
              <a:ext uri="{28A0092B-C50C-407E-A947-70E740481C1C}">
                <a14:useLocalDpi xmlns:a14="http://schemas.microsoft.com/office/drawing/2010/main" val="0"/>
              </a:ext>
            </a:extLst>
          </a:blip>
          <a:srcRect/>
          <a:stretch>
            <a:fillRect/>
          </a:stretch>
        </p:blipFill>
        <p:spPr>
          <a:xfrm>
            <a:off x="243052" y="139671"/>
            <a:ext cx="1135117" cy="1138411"/>
          </a:xfrm>
          <a:prstGeom prst="rect">
            <a:avLst/>
          </a:prstGeom>
          <a:noFill/>
        </p:spPr>
      </p:pic>
      <p:pic>
        <p:nvPicPr>
          <p:cNvPr id="5" name="Picture 4">
            <a:extLst>
              <a:ext uri="{FF2B5EF4-FFF2-40B4-BE49-F238E27FC236}">
                <a16:creationId xmlns:a16="http://schemas.microsoft.com/office/drawing/2014/main" id="{1201B815-77C7-6CA3-E3FD-227F12A3BECA}"/>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0514231" y="191626"/>
            <a:ext cx="1520114" cy="1138411"/>
          </a:xfrm>
          <a:prstGeom prst="rect">
            <a:avLst/>
          </a:prstGeom>
          <a:noFill/>
          <a:ln>
            <a:noFill/>
          </a:ln>
        </p:spPr>
      </p:pic>
      <p:pic>
        <p:nvPicPr>
          <p:cNvPr id="7" name="Picture 6">
            <a:extLst>
              <a:ext uri="{FF2B5EF4-FFF2-40B4-BE49-F238E27FC236}">
                <a16:creationId xmlns:a16="http://schemas.microsoft.com/office/drawing/2014/main" id="{B7C8872A-EE27-13C0-0313-BE3F5FB40B3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737" y="2213264"/>
            <a:ext cx="6151418" cy="4644736"/>
          </a:xfrm>
          <a:prstGeom prst="rect">
            <a:avLst/>
          </a:prstGeom>
        </p:spPr>
      </p:pic>
      <p:pic>
        <p:nvPicPr>
          <p:cNvPr id="9" name="Picture 8">
            <a:extLst>
              <a:ext uri="{FF2B5EF4-FFF2-40B4-BE49-F238E27FC236}">
                <a16:creationId xmlns:a16="http://schemas.microsoft.com/office/drawing/2014/main" id="{937B1314-29CB-B0A0-4520-EF3479E9677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24155" y="2005445"/>
            <a:ext cx="5967845" cy="4852555"/>
          </a:xfrm>
          <a:prstGeom prst="rect">
            <a:avLst/>
          </a:prstGeom>
        </p:spPr>
      </p:pic>
      <p:sp>
        <p:nvSpPr>
          <p:cNvPr id="10" name="TextBox 9">
            <a:extLst>
              <a:ext uri="{FF2B5EF4-FFF2-40B4-BE49-F238E27FC236}">
                <a16:creationId xmlns:a16="http://schemas.microsoft.com/office/drawing/2014/main" id="{43A7FFC1-166E-8235-A987-F39BB6A7C0C4}"/>
              </a:ext>
            </a:extLst>
          </p:cNvPr>
          <p:cNvSpPr txBox="1"/>
          <p:nvPr/>
        </p:nvSpPr>
        <p:spPr>
          <a:xfrm>
            <a:off x="243052" y="1751599"/>
            <a:ext cx="1851789" cy="461665"/>
          </a:xfrm>
          <a:prstGeom prst="rect">
            <a:avLst/>
          </a:prstGeom>
          <a:noFill/>
        </p:spPr>
        <p:txBody>
          <a:bodyPr wrap="none" rtlCol="0">
            <a:spAutoFit/>
          </a:bodyPr>
          <a:lstStyle/>
          <a:p>
            <a:r>
              <a:rPr lang="en-IN" sz="2400" b="1" dirty="0">
                <a:latin typeface="Times New Roman" panose="02020603050405020304" pitchFamily="18" charset="0"/>
                <a:cs typeface="Times New Roman" panose="02020603050405020304" pitchFamily="18" charset="0"/>
              </a:rPr>
              <a:t>LINE PLOT</a:t>
            </a:r>
          </a:p>
        </p:txBody>
      </p:sp>
      <p:sp>
        <p:nvSpPr>
          <p:cNvPr id="11" name="TextBox 10">
            <a:extLst>
              <a:ext uri="{FF2B5EF4-FFF2-40B4-BE49-F238E27FC236}">
                <a16:creationId xmlns:a16="http://schemas.microsoft.com/office/drawing/2014/main" id="{D02E7824-611A-5A53-8F3A-F47BD5BB3AF0}"/>
              </a:ext>
            </a:extLst>
          </p:cNvPr>
          <p:cNvSpPr txBox="1"/>
          <p:nvPr/>
        </p:nvSpPr>
        <p:spPr>
          <a:xfrm>
            <a:off x="6785263" y="1751598"/>
            <a:ext cx="1765227" cy="461665"/>
          </a:xfrm>
          <a:prstGeom prst="rect">
            <a:avLst/>
          </a:prstGeom>
          <a:noFill/>
        </p:spPr>
        <p:txBody>
          <a:bodyPr wrap="none" rtlCol="0">
            <a:spAutoFit/>
          </a:bodyPr>
          <a:lstStyle/>
          <a:p>
            <a:r>
              <a:rPr lang="en-IN" sz="2400" b="1" dirty="0">
                <a:latin typeface="Times New Roman" panose="02020603050405020304" pitchFamily="18" charset="0"/>
                <a:cs typeface="Times New Roman" panose="02020603050405020304" pitchFamily="18" charset="0"/>
              </a:rPr>
              <a:t>BOX PLOT</a:t>
            </a:r>
          </a:p>
        </p:txBody>
      </p:sp>
      <p:sp>
        <p:nvSpPr>
          <p:cNvPr id="12" name="TextBox 11">
            <a:extLst>
              <a:ext uri="{FF2B5EF4-FFF2-40B4-BE49-F238E27FC236}">
                <a16:creationId xmlns:a16="http://schemas.microsoft.com/office/drawing/2014/main" id="{7D8F2947-2E91-0BD7-EC02-07FED6DB7EE6}"/>
              </a:ext>
            </a:extLst>
          </p:cNvPr>
          <p:cNvSpPr txBox="1"/>
          <p:nvPr/>
        </p:nvSpPr>
        <p:spPr>
          <a:xfrm>
            <a:off x="4399943" y="401193"/>
            <a:ext cx="3092513" cy="830997"/>
          </a:xfrm>
          <a:prstGeom prst="rect">
            <a:avLst/>
          </a:prstGeom>
          <a:noFill/>
        </p:spPr>
        <p:txBody>
          <a:bodyPr wrap="none" rtlCol="0">
            <a:spAutoFit/>
          </a:bodyPr>
          <a:lstStyle/>
          <a:p>
            <a:pPr algn="ctr"/>
            <a:r>
              <a:rPr lang="en-IN" sz="4800" b="1" dirty="0">
                <a:latin typeface="Times New Roman" panose="02020603050405020304" pitchFamily="18" charset="0"/>
                <a:cs typeface="Times New Roman" panose="02020603050405020304" pitchFamily="18" charset="0"/>
              </a:rPr>
              <a:t>OUTPUTS</a:t>
            </a:r>
          </a:p>
        </p:txBody>
      </p:sp>
    </p:spTree>
    <p:extLst>
      <p:ext uri="{BB962C8B-B14F-4D97-AF65-F5344CB8AC3E}">
        <p14:creationId xmlns:p14="http://schemas.microsoft.com/office/powerpoint/2010/main" val="13641819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EBDD672-E46A-E404-19B0-0ABE9E009207}"/>
              </a:ext>
            </a:extLst>
          </p:cNvPr>
          <p:cNvPicPr/>
          <p:nvPr/>
        </p:nvPicPr>
        <p:blipFill>
          <a:blip r:embed="rId2" cstate="print">
            <a:extLst>
              <a:ext uri="{28A0092B-C50C-407E-A947-70E740481C1C}">
                <a14:useLocalDpi xmlns:a14="http://schemas.microsoft.com/office/drawing/2010/main" val="0"/>
              </a:ext>
            </a:extLst>
          </a:blip>
          <a:srcRect/>
          <a:stretch>
            <a:fillRect/>
          </a:stretch>
        </p:blipFill>
        <p:spPr>
          <a:xfrm>
            <a:off x="243052" y="139671"/>
            <a:ext cx="1135117" cy="1138411"/>
          </a:xfrm>
          <a:prstGeom prst="rect">
            <a:avLst/>
          </a:prstGeom>
          <a:noFill/>
        </p:spPr>
      </p:pic>
      <p:pic>
        <p:nvPicPr>
          <p:cNvPr id="5" name="Picture 4">
            <a:extLst>
              <a:ext uri="{FF2B5EF4-FFF2-40B4-BE49-F238E27FC236}">
                <a16:creationId xmlns:a16="http://schemas.microsoft.com/office/drawing/2014/main" id="{20A5FFB1-96D7-95D2-86C6-FAB98ACC9A18}"/>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0514231" y="191626"/>
            <a:ext cx="1520114" cy="1138411"/>
          </a:xfrm>
          <a:prstGeom prst="rect">
            <a:avLst/>
          </a:prstGeom>
          <a:noFill/>
          <a:ln>
            <a:noFill/>
          </a:ln>
        </p:spPr>
      </p:pic>
      <p:sp>
        <p:nvSpPr>
          <p:cNvPr id="7" name="TextBox 6">
            <a:extLst>
              <a:ext uri="{FF2B5EF4-FFF2-40B4-BE49-F238E27FC236}">
                <a16:creationId xmlns:a16="http://schemas.microsoft.com/office/drawing/2014/main" id="{52C5091A-7ADA-E13E-425D-26B19E22A7AA}"/>
              </a:ext>
            </a:extLst>
          </p:cNvPr>
          <p:cNvSpPr txBox="1"/>
          <p:nvPr/>
        </p:nvSpPr>
        <p:spPr>
          <a:xfrm>
            <a:off x="3182216" y="293377"/>
            <a:ext cx="6094268" cy="830997"/>
          </a:xfrm>
          <a:prstGeom prst="rect">
            <a:avLst/>
          </a:prstGeom>
          <a:noFill/>
        </p:spPr>
        <p:txBody>
          <a:bodyPr wrap="square">
            <a:spAutoFit/>
          </a:bodyPr>
          <a:lstStyle/>
          <a:p>
            <a:pPr algn="ctr"/>
            <a:r>
              <a:rPr lang="en-IN" sz="4800" b="1" dirty="0">
                <a:latin typeface="Times New Roman" panose="02020603050405020304" pitchFamily="18" charset="0"/>
                <a:cs typeface="Times New Roman" panose="02020603050405020304" pitchFamily="18" charset="0"/>
              </a:rPr>
              <a:t>Results &amp; Discussion</a:t>
            </a:r>
          </a:p>
        </p:txBody>
      </p:sp>
      <p:sp>
        <p:nvSpPr>
          <p:cNvPr id="9" name="TextBox 8">
            <a:extLst>
              <a:ext uri="{FF2B5EF4-FFF2-40B4-BE49-F238E27FC236}">
                <a16:creationId xmlns:a16="http://schemas.microsoft.com/office/drawing/2014/main" id="{DEF0D749-761B-9B05-FA39-188FA853605B}"/>
              </a:ext>
            </a:extLst>
          </p:cNvPr>
          <p:cNvSpPr txBox="1"/>
          <p:nvPr/>
        </p:nvSpPr>
        <p:spPr>
          <a:xfrm>
            <a:off x="1485900" y="1479938"/>
            <a:ext cx="9371230" cy="5011949"/>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Visual analysis clearly shows variations in student performance across subjects and semesters.</a:t>
            </a:r>
          </a:p>
          <a:p>
            <a:pPr marL="34290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Students with higher attendance generally demonstrate better academic performance.</a:t>
            </a:r>
          </a:p>
          <a:p>
            <a:pPr marL="34290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Behavioral issues are observed to negatively impact overall academic results.</a:t>
            </a:r>
          </a:p>
          <a:p>
            <a:pPr marL="34290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Data visualizations help in easily identifying high-performing and low-performing students.</a:t>
            </a:r>
          </a:p>
          <a:p>
            <a:pPr marL="34290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Trends highlight specific subjects where students consistently struggle.</a:t>
            </a:r>
          </a:p>
        </p:txBody>
      </p:sp>
    </p:spTree>
    <p:extLst>
      <p:ext uri="{BB962C8B-B14F-4D97-AF65-F5344CB8AC3E}">
        <p14:creationId xmlns:p14="http://schemas.microsoft.com/office/powerpoint/2010/main" val="11931882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67935D2-6CAD-9817-E52B-3DCC369792D3}"/>
              </a:ext>
            </a:extLst>
          </p:cNvPr>
          <p:cNvPicPr/>
          <p:nvPr/>
        </p:nvPicPr>
        <p:blipFill>
          <a:blip r:embed="rId2" cstate="print">
            <a:extLst>
              <a:ext uri="{28A0092B-C50C-407E-A947-70E740481C1C}">
                <a14:useLocalDpi xmlns:a14="http://schemas.microsoft.com/office/drawing/2010/main" val="0"/>
              </a:ext>
            </a:extLst>
          </a:blip>
          <a:srcRect/>
          <a:stretch>
            <a:fillRect/>
          </a:stretch>
        </p:blipFill>
        <p:spPr>
          <a:xfrm>
            <a:off x="243052" y="139671"/>
            <a:ext cx="1135117" cy="1138411"/>
          </a:xfrm>
          <a:prstGeom prst="rect">
            <a:avLst/>
          </a:prstGeom>
          <a:noFill/>
        </p:spPr>
      </p:pic>
      <p:pic>
        <p:nvPicPr>
          <p:cNvPr id="5" name="Picture 4">
            <a:extLst>
              <a:ext uri="{FF2B5EF4-FFF2-40B4-BE49-F238E27FC236}">
                <a16:creationId xmlns:a16="http://schemas.microsoft.com/office/drawing/2014/main" id="{1202234B-8794-7FAB-7801-7D0C71DCF0DC}"/>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0514231" y="191626"/>
            <a:ext cx="1520114" cy="1138411"/>
          </a:xfrm>
          <a:prstGeom prst="rect">
            <a:avLst/>
          </a:prstGeom>
          <a:noFill/>
          <a:ln>
            <a:noFill/>
          </a:ln>
        </p:spPr>
      </p:pic>
      <p:sp>
        <p:nvSpPr>
          <p:cNvPr id="7" name="TextBox 6">
            <a:extLst>
              <a:ext uri="{FF2B5EF4-FFF2-40B4-BE49-F238E27FC236}">
                <a16:creationId xmlns:a16="http://schemas.microsoft.com/office/drawing/2014/main" id="{14234829-48B6-BEAE-908D-DB1B69744CB9}"/>
              </a:ext>
            </a:extLst>
          </p:cNvPr>
          <p:cNvSpPr txBox="1"/>
          <p:nvPr/>
        </p:nvSpPr>
        <p:spPr>
          <a:xfrm>
            <a:off x="3048866" y="345332"/>
            <a:ext cx="6094268" cy="830997"/>
          </a:xfrm>
          <a:prstGeom prst="rect">
            <a:avLst/>
          </a:prstGeom>
          <a:noFill/>
        </p:spPr>
        <p:txBody>
          <a:bodyPr wrap="square">
            <a:spAutoFit/>
          </a:bodyPr>
          <a:lstStyle/>
          <a:p>
            <a:pPr algn="ctr"/>
            <a:r>
              <a:rPr lang="en-IN" sz="4800" b="1" dirty="0">
                <a:latin typeface="Times New Roman" panose="02020603050405020304" pitchFamily="18" charset="0"/>
                <a:cs typeface="Times New Roman" panose="02020603050405020304" pitchFamily="18" charset="0"/>
              </a:rPr>
              <a:t>Future Scope</a:t>
            </a:r>
          </a:p>
        </p:txBody>
      </p:sp>
      <p:sp>
        <p:nvSpPr>
          <p:cNvPr id="9" name="TextBox 8">
            <a:extLst>
              <a:ext uri="{FF2B5EF4-FFF2-40B4-BE49-F238E27FC236}">
                <a16:creationId xmlns:a16="http://schemas.microsoft.com/office/drawing/2014/main" id="{D6997AC5-EF9A-493D-F63D-30B72D5F49ED}"/>
              </a:ext>
            </a:extLst>
          </p:cNvPr>
          <p:cNvSpPr txBox="1"/>
          <p:nvPr/>
        </p:nvSpPr>
        <p:spPr>
          <a:xfrm>
            <a:off x="999259" y="1500719"/>
            <a:ext cx="10193482" cy="5011949"/>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Use of learning analytics and big data platforms for large-scale student data processing.</a:t>
            </a:r>
          </a:p>
          <a:p>
            <a:pPr marL="34290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Real-time dashboards for continuous monitoring of academic and behavioral metrics.</a:t>
            </a:r>
          </a:p>
          <a:p>
            <a:pPr marL="34290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Incorporation of AI-driven recommendation systems for personalized learning paths.</a:t>
            </a:r>
          </a:p>
          <a:p>
            <a:pPr marL="34290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Advanced data mining techniques to identify hidden patterns and correlations.</a:t>
            </a:r>
          </a:p>
          <a:p>
            <a:pPr marL="34290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Integration with Learning Management Systems (LMS) for automated data collection.</a:t>
            </a:r>
          </a:p>
        </p:txBody>
      </p:sp>
    </p:spTree>
    <p:extLst>
      <p:ext uri="{BB962C8B-B14F-4D97-AF65-F5344CB8AC3E}">
        <p14:creationId xmlns:p14="http://schemas.microsoft.com/office/powerpoint/2010/main" val="22181243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CE6EF6-56F0-5237-4E97-765EF39957E3}"/>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0333CECB-ED9B-FBD1-ABA0-7F2A5514D38C}"/>
              </a:ext>
            </a:extLst>
          </p:cNvPr>
          <p:cNvPicPr/>
          <p:nvPr/>
        </p:nvPicPr>
        <p:blipFill>
          <a:blip r:embed="rId2" cstate="print">
            <a:extLst>
              <a:ext uri="{28A0092B-C50C-407E-A947-70E740481C1C}">
                <a14:useLocalDpi xmlns:a14="http://schemas.microsoft.com/office/drawing/2010/main" val="0"/>
              </a:ext>
            </a:extLst>
          </a:blip>
          <a:srcRect/>
          <a:stretch>
            <a:fillRect/>
          </a:stretch>
        </p:blipFill>
        <p:spPr>
          <a:xfrm>
            <a:off x="243052" y="139671"/>
            <a:ext cx="1135117" cy="1138411"/>
          </a:xfrm>
          <a:prstGeom prst="rect">
            <a:avLst/>
          </a:prstGeom>
          <a:noFill/>
        </p:spPr>
      </p:pic>
      <p:pic>
        <p:nvPicPr>
          <p:cNvPr id="3" name="Picture 2">
            <a:extLst>
              <a:ext uri="{FF2B5EF4-FFF2-40B4-BE49-F238E27FC236}">
                <a16:creationId xmlns:a16="http://schemas.microsoft.com/office/drawing/2014/main" id="{C0A11AEB-7C44-5A06-47D1-F52C3522C11A}"/>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0514231" y="191626"/>
            <a:ext cx="1520114" cy="1138411"/>
          </a:xfrm>
          <a:prstGeom prst="rect">
            <a:avLst/>
          </a:prstGeom>
          <a:noFill/>
          <a:ln>
            <a:noFill/>
          </a:ln>
        </p:spPr>
      </p:pic>
      <p:sp>
        <p:nvSpPr>
          <p:cNvPr id="5" name="TextBox 4">
            <a:extLst>
              <a:ext uri="{FF2B5EF4-FFF2-40B4-BE49-F238E27FC236}">
                <a16:creationId xmlns:a16="http://schemas.microsoft.com/office/drawing/2014/main" id="{2F61058D-100B-5977-9749-6E2B28E35694}"/>
              </a:ext>
            </a:extLst>
          </p:cNvPr>
          <p:cNvSpPr txBox="1"/>
          <p:nvPr/>
        </p:nvSpPr>
        <p:spPr>
          <a:xfrm>
            <a:off x="2433205" y="293377"/>
            <a:ext cx="7325590" cy="830997"/>
          </a:xfrm>
          <a:prstGeom prst="rect">
            <a:avLst/>
          </a:prstGeom>
          <a:noFill/>
        </p:spPr>
        <p:txBody>
          <a:bodyPr wrap="square">
            <a:spAutoFit/>
          </a:bodyPr>
          <a:lstStyle/>
          <a:p>
            <a:pPr algn="ctr"/>
            <a:r>
              <a:rPr lang="en-IN" sz="4800" b="1" dirty="0">
                <a:latin typeface="Times New Roman" panose="02020603050405020304" pitchFamily="18" charset="0"/>
                <a:cs typeface="Times New Roman" panose="02020603050405020304" pitchFamily="18" charset="0"/>
              </a:rPr>
              <a:t>Challenges &amp; Limitations</a:t>
            </a:r>
          </a:p>
        </p:txBody>
      </p:sp>
      <p:sp>
        <p:nvSpPr>
          <p:cNvPr id="7" name="TextBox 6">
            <a:extLst>
              <a:ext uri="{FF2B5EF4-FFF2-40B4-BE49-F238E27FC236}">
                <a16:creationId xmlns:a16="http://schemas.microsoft.com/office/drawing/2014/main" id="{6EF06F8C-9087-D75D-4114-2DC358FEDEEE}"/>
              </a:ext>
            </a:extLst>
          </p:cNvPr>
          <p:cNvSpPr txBox="1"/>
          <p:nvPr/>
        </p:nvSpPr>
        <p:spPr>
          <a:xfrm>
            <a:off x="1579419" y="1893302"/>
            <a:ext cx="9279081" cy="3903954"/>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Incomplete or missing student data can affect analysis accuracy.</a:t>
            </a:r>
          </a:p>
          <a:p>
            <a:pPr marL="34290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Data quality issues such as errors and inconsistencies may lead to misleading results.</a:t>
            </a:r>
          </a:p>
          <a:p>
            <a:pPr marL="34290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Visualization results depend heavily on the correctness of input data.</a:t>
            </a:r>
          </a:p>
          <a:p>
            <a:pPr marL="34290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Behavioral data is often subjective and difficult to measure accurately.</a:t>
            </a:r>
          </a:p>
          <a:p>
            <a:pPr marL="34290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Limited historical data reduces the ability to identify long-term trends.</a:t>
            </a:r>
          </a:p>
          <a:p>
            <a:pPr marL="34290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Privacy and security of student data must be carefully maintained.</a:t>
            </a:r>
          </a:p>
        </p:txBody>
      </p:sp>
    </p:spTree>
    <p:extLst>
      <p:ext uri="{BB962C8B-B14F-4D97-AF65-F5344CB8AC3E}">
        <p14:creationId xmlns:p14="http://schemas.microsoft.com/office/powerpoint/2010/main" val="9302945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3DD6F1-2573-21DB-1D36-C34E1801E476}"/>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4F9E6482-E489-C1E9-84A5-5AB0E3941E8F}"/>
              </a:ext>
            </a:extLst>
          </p:cNvPr>
          <p:cNvPicPr/>
          <p:nvPr/>
        </p:nvPicPr>
        <p:blipFill>
          <a:blip r:embed="rId2" cstate="print">
            <a:extLst>
              <a:ext uri="{28A0092B-C50C-407E-A947-70E740481C1C}">
                <a14:useLocalDpi xmlns:a14="http://schemas.microsoft.com/office/drawing/2010/main" val="0"/>
              </a:ext>
            </a:extLst>
          </a:blip>
          <a:srcRect/>
          <a:stretch>
            <a:fillRect/>
          </a:stretch>
        </p:blipFill>
        <p:spPr>
          <a:xfrm>
            <a:off x="243052" y="139671"/>
            <a:ext cx="1135117" cy="1138411"/>
          </a:xfrm>
          <a:prstGeom prst="rect">
            <a:avLst/>
          </a:prstGeom>
          <a:noFill/>
        </p:spPr>
      </p:pic>
      <p:pic>
        <p:nvPicPr>
          <p:cNvPr id="3" name="Picture 2">
            <a:extLst>
              <a:ext uri="{FF2B5EF4-FFF2-40B4-BE49-F238E27FC236}">
                <a16:creationId xmlns:a16="http://schemas.microsoft.com/office/drawing/2014/main" id="{1F5D797C-C5DC-D3E8-78CD-D35972FDF09D}"/>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0514231" y="191626"/>
            <a:ext cx="1520114" cy="1138411"/>
          </a:xfrm>
          <a:prstGeom prst="rect">
            <a:avLst/>
          </a:prstGeom>
          <a:noFill/>
          <a:ln>
            <a:noFill/>
          </a:ln>
        </p:spPr>
      </p:pic>
      <p:sp>
        <p:nvSpPr>
          <p:cNvPr id="5" name="TextBox 4">
            <a:extLst>
              <a:ext uri="{FF2B5EF4-FFF2-40B4-BE49-F238E27FC236}">
                <a16:creationId xmlns:a16="http://schemas.microsoft.com/office/drawing/2014/main" id="{BFF4DBEF-8DA4-894C-B8EC-9998FB54D674}"/>
              </a:ext>
            </a:extLst>
          </p:cNvPr>
          <p:cNvSpPr txBox="1"/>
          <p:nvPr/>
        </p:nvSpPr>
        <p:spPr>
          <a:xfrm>
            <a:off x="3048866" y="293377"/>
            <a:ext cx="6094268" cy="830997"/>
          </a:xfrm>
          <a:prstGeom prst="rect">
            <a:avLst/>
          </a:prstGeom>
          <a:noFill/>
        </p:spPr>
        <p:txBody>
          <a:bodyPr wrap="square">
            <a:spAutoFit/>
          </a:bodyPr>
          <a:lstStyle/>
          <a:p>
            <a:pPr algn="ctr"/>
            <a:r>
              <a:rPr lang="en-IN" sz="4800" b="1" dirty="0">
                <a:latin typeface="Times New Roman" panose="02020603050405020304" pitchFamily="18" charset="0"/>
                <a:cs typeface="Times New Roman" panose="02020603050405020304" pitchFamily="18" charset="0"/>
              </a:rPr>
              <a:t>Conclusion</a:t>
            </a:r>
          </a:p>
        </p:txBody>
      </p:sp>
      <p:sp>
        <p:nvSpPr>
          <p:cNvPr id="7" name="TextBox 6">
            <a:extLst>
              <a:ext uri="{FF2B5EF4-FFF2-40B4-BE49-F238E27FC236}">
                <a16:creationId xmlns:a16="http://schemas.microsoft.com/office/drawing/2014/main" id="{40A269B5-2824-E996-D4B4-108AF38AD771}"/>
              </a:ext>
            </a:extLst>
          </p:cNvPr>
          <p:cNvSpPr txBox="1"/>
          <p:nvPr/>
        </p:nvSpPr>
        <p:spPr>
          <a:xfrm>
            <a:off x="1378169" y="1578923"/>
            <a:ext cx="9594631" cy="4457952"/>
          </a:xfrm>
          <a:prstGeom prst="rect">
            <a:avLst/>
          </a:prstGeom>
          <a:noFill/>
        </p:spPr>
        <p:txBody>
          <a:bodyPr wrap="square">
            <a:spAutoFit/>
          </a:bodyPr>
          <a:lstStyle/>
          <a:p>
            <a:pPr algn="just">
              <a:lnSpc>
                <a:spcPct val="150000"/>
              </a:lnSpc>
            </a:pPr>
            <a:r>
              <a:rPr lang="en-IN" sz="2400" dirty="0">
                <a:latin typeface="Times New Roman" panose="02020603050405020304" pitchFamily="18" charset="0"/>
                <a:cs typeface="Times New Roman" panose="02020603050405020304" pitchFamily="18" charset="0"/>
              </a:rPr>
              <a:t>Student Performance Analysis using Data Visualization provides an effective approach to understanding academic outcomes by transforming raw student data into meaningful visual insights. Data visualization simplifies complex datasets, enabling educators to make informed and timely decisions. Despite challenges related to data quality and privacy, the approach enhances monitoring, early intervention, and overall academic planning. Overall, data visualization serves as a powerful tool for improving educational performance and supporting data-driven academic management.</a:t>
            </a:r>
          </a:p>
        </p:txBody>
      </p:sp>
    </p:spTree>
    <p:extLst>
      <p:ext uri="{BB962C8B-B14F-4D97-AF65-F5344CB8AC3E}">
        <p14:creationId xmlns:p14="http://schemas.microsoft.com/office/powerpoint/2010/main" val="13194380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0BB265E-5998-85ED-94BF-6EAFAD61EF8B}"/>
              </a:ext>
            </a:extLst>
          </p:cNvPr>
          <p:cNvPicPr/>
          <p:nvPr/>
        </p:nvPicPr>
        <p:blipFill>
          <a:blip r:embed="rId2" cstate="print">
            <a:extLst>
              <a:ext uri="{28A0092B-C50C-407E-A947-70E740481C1C}">
                <a14:useLocalDpi xmlns:a14="http://schemas.microsoft.com/office/drawing/2010/main" val="0"/>
              </a:ext>
            </a:extLst>
          </a:blip>
          <a:srcRect/>
          <a:stretch>
            <a:fillRect/>
          </a:stretch>
        </p:blipFill>
        <p:spPr>
          <a:xfrm>
            <a:off x="243052" y="139671"/>
            <a:ext cx="1135117" cy="1138411"/>
          </a:xfrm>
          <a:prstGeom prst="rect">
            <a:avLst/>
          </a:prstGeom>
          <a:noFill/>
        </p:spPr>
      </p:pic>
      <p:pic>
        <p:nvPicPr>
          <p:cNvPr id="5" name="Picture 4">
            <a:extLst>
              <a:ext uri="{FF2B5EF4-FFF2-40B4-BE49-F238E27FC236}">
                <a16:creationId xmlns:a16="http://schemas.microsoft.com/office/drawing/2014/main" id="{CFAFEFBE-5E5C-558F-619B-5FB85577DC2B}"/>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0514231" y="191626"/>
            <a:ext cx="1520114" cy="1138411"/>
          </a:xfrm>
          <a:prstGeom prst="rect">
            <a:avLst/>
          </a:prstGeom>
          <a:noFill/>
          <a:ln>
            <a:noFill/>
          </a:ln>
        </p:spPr>
      </p:pic>
      <p:sp>
        <p:nvSpPr>
          <p:cNvPr id="7" name="TextBox 6">
            <a:extLst>
              <a:ext uri="{FF2B5EF4-FFF2-40B4-BE49-F238E27FC236}">
                <a16:creationId xmlns:a16="http://schemas.microsoft.com/office/drawing/2014/main" id="{22962304-2D73-83C9-EE96-800B74D22EBB}"/>
              </a:ext>
            </a:extLst>
          </p:cNvPr>
          <p:cNvSpPr txBox="1"/>
          <p:nvPr/>
        </p:nvSpPr>
        <p:spPr>
          <a:xfrm>
            <a:off x="2766579" y="293377"/>
            <a:ext cx="6094268" cy="830997"/>
          </a:xfrm>
          <a:prstGeom prst="rect">
            <a:avLst/>
          </a:prstGeom>
          <a:noFill/>
        </p:spPr>
        <p:txBody>
          <a:bodyPr wrap="square">
            <a:spAutoFit/>
          </a:bodyPr>
          <a:lstStyle/>
          <a:p>
            <a:pPr algn="ctr"/>
            <a:r>
              <a:rPr lang="en-IN" sz="4800" b="1" dirty="0">
                <a:latin typeface="Times New Roman" panose="02020603050405020304" pitchFamily="18" charset="0"/>
                <a:cs typeface="Times New Roman" panose="02020603050405020304" pitchFamily="18" charset="0"/>
              </a:rPr>
              <a:t>References</a:t>
            </a:r>
          </a:p>
        </p:txBody>
      </p:sp>
      <p:sp>
        <p:nvSpPr>
          <p:cNvPr id="9" name="TextBox 8">
            <a:extLst>
              <a:ext uri="{FF2B5EF4-FFF2-40B4-BE49-F238E27FC236}">
                <a16:creationId xmlns:a16="http://schemas.microsoft.com/office/drawing/2014/main" id="{62B4DD09-FB0E-37AC-FF44-A17BE74297D7}"/>
              </a:ext>
            </a:extLst>
          </p:cNvPr>
          <p:cNvSpPr txBox="1"/>
          <p:nvPr/>
        </p:nvSpPr>
        <p:spPr>
          <a:xfrm>
            <a:off x="1215736" y="1429657"/>
            <a:ext cx="9580418" cy="5011949"/>
          </a:xfrm>
          <a:prstGeom prst="rect">
            <a:avLst/>
          </a:prstGeom>
          <a:noFill/>
        </p:spPr>
        <p:txBody>
          <a:bodyPr wrap="square">
            <a:spAutoFit/>
          </a:bodyPr>
          <a:lstStyle/>
          <a:p>
            <a:pPr marL="342900" indent="-342900" algn="just">
              <a:lnSpc>
                <a:spcPct val="15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Malik, S., Patro, S.G.K., &amp; Mahanty, C. Advancing educational data mining for enhanced student performance prediction: fusion of feature selection and ensemble techniques. Scientific Reports, 15, 8738 (2025).</a:t>
            </a:r>
          </a:p>
          <a:p>
            <a:pPr marL="342900" indent="-342900" algn="just">
              <a:lnSpc>
                <a:spcPct val="15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Guevara-Reyes, R., Ortiz-</a:t>
            </a:r>
            <a:r>
              <a:rPr lang="en-IN" sz="2400" dirty="0" err="1">
                <a:latin typeface="Times New Roman" panose="02020603050405020304" pitchFamily="18" charset="0"/>
                <a:cs typeface="Times New Roman" panose="02020603050405020304" pitchFamily="18" charset="0"/>
              </a:rPr>
              <a:t>Garcés</a:t>
            </a:r>
            <a:r>
              <a:rPr lang="en-IN" sz="2400" dirty="0">
                <a:latin typeface="Times New Roman" panose="02020603050405020304" pitchFamily="18" charset="0"/>
                <a:cs typeface="Times New Roman" panose="02020603050405020304" pitchFamily="18" charset="0"/>
              </a:rPr>
              <a:t>, I., Andrade, R., Cox-</a:t>
            </a:r>
            <a:r>
              <a:rPr lang="en-IN" sz="2400" dirty="0" err="1">
                <a:latin typeface="Times New Roman" panose="02020603050405020304" pitchFamily="18" charset="0"/>
                <a:cs typeface="Times New Roman" panose="02020603050405020304" pitchFamily="18" charset="0"/>
              </a:rPr>
              <a:t>Riquetti</a:t>
            </a:r>
            <a:r>
              <a:rPr lang="en-IN" sz="2400" dirty="0">
                <a:latin typeface="Times New Roman" panose="02020603050405020304" pitchFamily="18" charset="0"/>
                <a:cs typeface="Times New Roman" panose="02020603050405020304" pitchFamily="18" charset="0"/>
              </a:rPr>
              <a:t>, F. &amp; Villegas-Ch. W. Machine learning models for academic performance prediction: interpretability and application in educational decision-making. Frontiers in Education, 10:1632315 (2025).</a:t>
            </a:r>
          </a:p>
          <a:p>
            <a:pPr marL="342900" indent="-342900" algn="just">
              <a:lnSpc>
                <a:spcPct val="15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Kalita, E., Oyelere, S.S., Gaftandzhieva, S. et al. Educational data mining: a 10-year review. Discover Computing 28, 81 (2025).</a:t>
            </a:r>
          </a:p>
        </p:txBody>
      </p:sp>
    </p:spTree>
    <p:extLst>
      <p:ext uri="{BB962C8B-B14F-4D97-AF65-F5344CB8AC3E}">
        <p14:creationId xmlns:p14="http://schemas.microsoft.com/office/powerpoint/2010/main" val="23372016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CC40335-DC14-D333-BA5A-C01ABEE44AE6}"/>
              </a:ext>
            </a:extLst>
          </p:cNvPr>
          <p:cNvSpPr txBox="1"/>
          <p:nvPr/>
        </p:nvSpPr>
        <p:spPr>
          <a:xfrm>
            <a:off x="3608243" y="2425961"/>
            <a:ext cx="6094268" cy="1569660"/>
          </a:xfrm>
          <a:prstGeom prst="rect">
            <a:avLst/>
          </a:prstGeom>
          <a:noFill/>
        </p:spPr>
        <p:txBody>
          <a:bodyPr wrap="square">
            <a:spAutoFit/>
          </a:bodyPr>
          <a:lstStyle/>
          <a:p>
            <a:pPr marL="0" indent="0">
              <a:buNone/>
            </a:pPr>
            <a:r>
              <a:rPr lang="en-US" sz="4800" dirty="0">
                <a:latin typeface="Lucida Calligraphy" panose="03010101010101010101" charset="0"/>
                <a:cs typeface="Lucida Calligraphy" panose="03010101010101010101" charset="0"/>
              </a:rPr>
              <a:t>THANK </a:t>
            </a:r>
          </a:p>
          <a:p>
            <a:pPr marL="0" indent="0">
              <a:buNone/>
            </a:pPr>
            <a:r>
              <a:rPr lang="en-US" dirty="0">
                <a:latin typeface="Lucida Calligraphy" panose="03010101010101010101" charset="0"/>
                <a:cs typeface="Lucida Calligraphy" panose="03010101010101010101" charset="0"/>
              </a:rPr>
              <a:t>                                 </a:t>
            </a:r>
            <a:r>
              <a:rPr lang="en-US" sz="4800" dirty="0">
                <a:latin typeface="Lucida Calligraphy" panose="03010101010101010101" charset="0"/>
                <a:cs typeface="Lucida Calligraphy" panose="03010101010101010101" charset="0"/>
              </a:rPr>
              <a:t>YOU !!</a:t>
            </a:r>
          </a:p>
        </p:txBody>
      </p:sp>
    </p:spTree>
    <p:extLst>
      <p:ext uri="{BB962C8B-B14F-4D97-AF65-F5344CB8AC3E}">
        <p14:creationId xmlns:p14="http://schemas.microsoft.com/office/powerpoint/2010/main" val="24491076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223</TotalTime>
  <Words>1167</Words>
  <Application>Microsoft Office PowerPoint</Application>
  <PresentationFormat>Widescreen</PresentationFormat>
  <Paragraphs>106</Paragraphs>
  <Slides>20</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Aptos</vt:lpstr>
      <vt:lpstr>Aptos Display</vt:lpstr>
      <vt:lpstr>Arial</vt:lpstr>
      <vt:lpstr>Lucida Calligraphy</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jjoshithareddy@gmail.com</dc:creator>
  <cp:lastModifiedBy>jjoshithareddy@gmail.com</cp:lastModifiedBy>
  <cp:revision>6</cp:revision>
  <dcterms:created xsi:type="dcterms:W3CDTF">2026-01-08T05:46:27Z</dcterms:created>
  <dcterms:modified xsi:type="dcterms:W3CDTF">2026-01-31T08:33:26Z</dcterms:modified>
</cp:coreProperties>
</file>